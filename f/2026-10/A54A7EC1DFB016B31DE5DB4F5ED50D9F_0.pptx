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ubik Medium"/>
      <p:regular r:id="rId32"/>
      <p:bold r:id="rId33"/>
      <p:italic r:id="rId34"/>
      <p:boldItalic r:id="rId35"/>
    </p:embeddedFont>
    <p:embeddedFont>
      <p:font typeface="Rubik"/>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ubikMedium-bold.fntdata"/><Relationship Id="rId10" Type="http://schemas.openxmlformats.org/officeDocument/2006/relationships/slide" Target="slides/slide5.xml"/><Relationship Id="rId32" Type="http://schemas.openxmlformats.org/officeDocument/2006/relationships/font" Target="fonts/RubikMedium-regular.fntdata"/><Relationship Id="rId13" Type="http://schemas.openxmlformats.org/officeDocument/2006/relationships/slide" Target="slides/slide8.xml"/><Relationship Id="rId35" Type="http://schemas.openxmlformats.org/officeDocument/2006/relationships/font" Target="fonts/RubikMedium-boldItalic.fntdata"/><Relationship Id="rId12" Type="http://schemas.openxmlformats.org/officeDocument/2006/relationships/slide" Target="slides/slide7.xml"/><Relationship Id="rId34" Type="http://schemas.openxmlformats.org/officeDocument/2006/relationships/font" Target="fonts/RubikMedium-italic.fntdata"/><Relationship Id="rId15" Type="http://schemas.openxmlformats.org/officeDocument/2006/relationships/slide" Target="slides/slide10.xml"/><Relationship Id="rId37" Type="http://schemas.openxmlformats.org/officeDocument/2006/relationships/font" Target="fonts/Rubik-bold.fntdata"/><Relationship Id="rId14" Type="http://schemas.openxmlformats.org/officeDocument/2006/relationships/slide" Target="slides/slide9.xml"/><Relationship Id="rId36" Type="http://schemas.openxmlformats.org/officeDocument/2006/relationships/font" Target="fonts/Rubik-regular.fntdata"/><Relationship Id="rId17" Type="http://schemas.openxmlformats.org/officeDocument/2006/relationships/slide" Target="slides/slide12.xml"/><Relationship Id="rId39" Type="http://schemas.openxmlformats.org/officeDocument/2006/relationships/font" Target="fonts/Rubik-boldItalic.fntdata"/><Relationship Id="rId16" Type="http://schemas.openxmlformats.org/officeDocument/2006/relationships/slide" Target="slides/slide11.xml"/><Relationship Id="rId38" Type="http://schemas.openxmlformats.org/officeDocument/2006/relationships/font" Target="fonts/Rubik-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707a499e1e9bf7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707a499e1e9bf7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border_story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border_story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border_story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border_story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border_story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border_story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border_story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border_story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border_story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border_story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707a499e1e9bf7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707a499e1e9bf7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707a499e1e9bf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707a499e1e9bf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border_story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border_story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2b819816704ace3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2b819816704ace3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border_story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border_story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border_story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border_story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border_story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border_story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border_story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border_story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rabin_personality_2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rabin_personality_2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border_story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border_story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border_story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border_story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border_story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border_story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border_story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border_story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border_story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border_story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707a499e1e9bf7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707a499e1e9bf7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border_story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border_story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707a499e1e9bf7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707a499e1e9bf7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707a499e1e9bf7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707a499e1e9bf7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707a499e1e9bf7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h707a499e1e9bf7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www.youtube.com/watch?v=5c9cGekj89c" TargetMode="External"/><Relationship Id="rId4" Type="http://schemas.openxmlformats.org/officeDocument/2006/relationships/image" Target="../media/image5.jp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www.youtube.com/watch?v=gJHSWxhLDg4" TargetMode="External"/><Relationship Id="rId4" Type="http://schemas.openxmlformats.org/officeDocument/2006/relationships/image" Target="../media/image1.jp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4.jp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2.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http://www.youtube.com/watch?v=fvtLL_wCmUE" TargetMode="External"/><Relationship Id="rId4" Type="http://schemas.openxmlformats.org/officeDocument/2006/relationships/image" Target="../media/image11.jp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7.jp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53" name="Shape 53"/>
        <p:cNvGrpSpPr/>
        <p:nvPr/>
      </p:nvGrpSpPr>
      <p:grpSpPr>
        <a:xfrm>
          <a:off x="0" y="0"/>
          <a:ext cx="0" cy="0"/>
          <a:chOff x="0" y="0"/>
          <a:chExt cx="0" cy="0"/>
        </a:xfrm>
      </p:grpSpPr>
      <p:sp>
        <p:nvSpPr>
          <p:cNvPr id="54" name="Google Shape;54;p13"/>
          <p:cNvSpPr/>
          <p:nvPr/>
        </p:nvSpPr>
        <p:spPr>
          <a:xfrm>
            <a:off x="6604200" y="-1625"/>
            <a:ext cx="2349000" cy="4476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rotWithShape="1">
          <a:blip r:embed="rId3">
            <a:alphaModFix/>
          </a:blip>
          <a:srcRect b="5158" l="12741" r="13053" t="7575"/>
          <a:stretch/>
        </p:blipFill>
        <p:spPr>
          <a:xfrm>
            <a:off x="0" y="0"/>
            <a:ext cx="5632976" cy="5143499"/>
          </a:xfrm>
          <a:prstGeom prst="rect">
            <a:avLst/>
          </a:prstGeom>
          <a:noFill/>
          <a:ln>
            <a:noFill/>
          </a:ln>
        </p:spPr>
      </p:pic>
      <p:sp>
        <p:nvSpPr>
          <p:cNvPr id="56" name="Google Shape;56;p13"/>
          <p:cNvSpPr/>
          <p:nvPr/>
        </p:nvSpPr>
        <p:spPr>
          <a:xfrm>
            <a:off x="5632972" y="0"/>
            <a:ext cx="420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5943775" y="939000"/>
            <a:ext cx="3009300" cy="32655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950">
                <a:solidFill>
                  <a:srgbClr val="F3EFE6"/>
                </a:solidFill>
                <a:latin typeface="Rubik"/>
                <a:ea typeface="Rubik"/>
                <a:cs typeface="Rubik"/>
                <a:sym typeface="Rubik"/>
              </a:rPr>
              <a:t>שתי ילדות אוחזות ידיים.</a:t>
            </a:r>
            <a:endParaRPr sz="1950">
              <a:solidFill>
                <a:srgbClr val="F3EFE6"/>
              </a:solidFill>
              <a:latin typeface="Rubik"/>
              <a:ea typeface="Rubik"/>
              <a:cs typeface="Rubik"/>
              <a:sym typeface="Rubik"/>
            </a:endParaRPr>
          </a:p>
          <a:p>
            <a:pPr indent="0" lvl="0" marL="0" rtl="1" algn="r">
              <a:lnSpc>
                <a:spcPct val="150000"/>
              </a:lnSpc>
              <a:spcBef>
                <a:spcPts val="1000"/>
              </a:spcBef>
              <a:spcAft>
                <a:spcPts val="0"/>
              </a:spcAft>
              <a:buNone/>
            </a:pPr>
            <a:r>
              <a:rPr lang="en-GB" sz="1950">
                <a:solidFill>
                  <a:srgbClr val="F3EFE6"/>
                </a:solidFill>
                <a:latin typeface="Rubik"/>
                <a:ea typeface="Rubik"/>
                <a:cs typeface="Rubik"/>
                <a:sym typeface="Rubik"/>
              </a:rPr>
              <a:t>מי הן? </a:t>
            </a:r>
            <a:endParaRPr sz="1950">
              <a:solidFill>
                <a:srgbClr val="F3EFE6"/>
              </a:solidFill>
              <a:latin typeface="Rubik"/>
              <a:ea typeface="Rubik"/>
              <a:cs typeface="Rubik"/>
              <a:sym typeface="Rubik"/>
            </a:endParaRPr>
          </a:p>
          <a:p>
            <a:pPr indent="0" lvl="0" marL="0" rtl="1" algn="r">
              <a:lnSpc>
                <a:spcPct val="150000"/>
              </a:lnSpc>
              <a:spcBef>
                <a:spcPts val="0"/>
              </a:spcBef>
              <a:spcAft>
                <a:spcPts val="0"/>
              </a:spcAft>
              <a:buNone/>
            </a:pPr>
            <a:r>
              <a:rPr lang="en-GB" sz="1950">
                <a:solidFill>
                  <a:srgbClr val="F3EFE6"/>
                </a:solidFill>
                <a:latin typeface="Rubik"/>
                <a:ea typeface="Rubik"/>
                <a:cs typeface="Rubik"/>
                <a:sym typeface="Rubik"/>
              </a:rPr>
              <a:t>חברות? </a:t>
            </a:r>
            <a:endParaRPr sz="1950">
              <a:solidFill>
                <a:srgbClr val="F3EFE6"/>
              </a:solidFill>
              <a:latin typeface="Rubik"/>
              <a:ea typeface="Rubik"/>
              <a:cs typeface="Rubik"/>
              <a:sym typeface="Rubik"/>
            </a:endParaRPr>
          </a:p>
          <a:p>
            <a:pPr indent="0" lvl="0" marL="0" rtl="1" algn="r">
              <a:lnSpc>
                <a:spcPct val="150000"/>
              </a:lnSpc>
              <a:spcBef>
                <a:spcPts val="0"/>
              </a:spcBef>
              <a:spcAft>
                <a:spcPts val="0"/>
              </a:spcAft>
              <a:buNone/>
            </a:pPr>
            <a:r>
              <a:rPr lang="en-GB" sz="1950">
                <a:solidFill>
                  <a:srgbClr val="F3EFE6"/>
                </a:solidFill>
                <a:latin typeface="Rubik"/>
                <a:ea typeface="Rubik"/>
                <a:cs typeface="Rubik"/>
                <a:sym typeface="Rubik"/>
              </a:rPr>
              <a:t>אחיות?</a:t>
            </a:r>
            <a:endParaRPr sz="19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9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950">
                <a:solidFill>
                  <a:srgbClr val="F3EFE6"/>
                </a:solidFill>
                <a:latin typeface="Rubik"/>
                <a:ea typeface="Rubik"/>
                <a:cs typeface="Rubik"/>
                <a:sym typeface="Rubik"/>
              </a:rPr>
              <a:t>ואיך הגיע הרגע הקטן הזה לעיתון?</a:t>
            </a:r>
            <a:endParaRPr sz="1950">
              <a:solidFill>
                <a:srgbClr val="F3EFE6"/>
              </a:solidFill>
              <a:latin typeface="Rubik"/>
              <a:ea typeface="Rubik"/>
              <a:cs typeface="Rubik"/>
              <a:sym typeface="Rubik"/>
            </a:endParaRPr>
          </a:p>
        </p:txBody>
      </p:sp>
      <p:pic>
        <p:nvPicPr>
          <p:cNvPr id="58" name="Google Shape;58;p13"/>
          <p:cNvPicPr preferRelativeResize="0"/>
          <p:nvPr/>
        </p:nvPicPr>
        <p:blipFill>
          <a:blip r:embed="rId4">
            <a:alphaModFix/>
          </a:blip>
          <a:stretch>
            <a:fillRect/>
          </a:stretch>
        </p:blipFill>
        <p:spPr>
          <a:xfrm>
            <a:off x="7932800" y="4642125"/>
            <a:ext cx="1167300" cy="407700"/>
          </a:xfrm>
          <a:prstGeom prst="rect">
            <a:avLst/>
          </a:prstGeom>
          <a:noFill/>
          <a:ln>
            <a:noFill/>
          </a:ln>
        </p:spPr>
      </p:pic>
      <p:sp>
        <p:nvSpPr>
          <p:cNvPr id="59" name="Google Shape;59;p13"/>
          <p:cNvSpPr txBox="1"/>
          <p:nvPr/>
        </p:nvSpPr>
        <p:spPr>
          <a:xfrm>
            <a:off x="6619739" y="7246"/>
            <a:ext cx="2198700" cy="4077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en-GB" sz="1600">
                <a:solidFill>
                  <a:schemeClr val="dk1"/>
                </a:solidFill>
                <a:latin typeface="Rubik Medium"/>
                <a:ea typeface="Rubik Medium"/>
                <a:cs typeface="Rubik Medium"/>
                <a:sym typeface="Rubik Medium"/>
              </a:rPr>
              <a:t>יום הזיכרון ליצחק רבין</a:t>
            </a:r>
            <a:endParaRPr sz="1600">
              <a:solidFill>
                <a:schemeClr val="dk1"/>
              </a:solidFill>
              <a:latin typeface="Rubik Medium"/>
              <a:ea typeface="Rubik Medium"/>
              <a:cs typeface="Rubik Medium"/>
              <a:sym typeface="Rubik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63" name="Shape 63"/>
        <p:cNvGrpSpPr/>
        <p:nvPr/>
      </p:nvGrpSpPr>
      <p:grpSpPr>
        <a:xfrm>
          <a:off x="0" y="0"/>
          <a:ext cx="0" cy="0"/>
          <a:chOff x="0" y="0"/>
          <a:chExt cx="0" cy="0"/>
        </a:xfrm>
      </p:grpSpPr>
      <p:sp>
        <p:nvSpPr>
          <p:cNvPr id="64" name="Google Shape;64;p14"/>
          <p:cNvSpPr txBox="1"/>
          <p:nvPr/>
        </p:nvSpPr>
        <p:spPr>
          <a:xfrm>
            <a:off x="5143500" y="410175"/>
            <a:ext cx="3666900" cy="3288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900">
                <a:solidFill>
                  <a:srgbClr val="F3EFE6"/>
                </a:solidFill>
                <a:latin typeface="Rubik"/>
                <a:ea typeface="Rubik"/>
                <a:cs typeface="Rubik"/>
                <a:sym typeface="Rubik"/>
              </a:rPr>
              <a:t>השנה היא 1994. מימין לי לוטן, בת שמונה מישראל. משמאלה היבא מוסא סמדי, בת שתים־עשרה מירדן.</a:t>
            </a:r>
            <a:endParaRPr sz="19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9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900">
                <a:solidFill>
                  <a:srgbClr val="F3EFE6"/>
                </a:solidFill>
                <a:latin typeface="Rubik"/>
                <a:ea typeface="Rubik"/>
                <a:cs typeface="Rubik"/>
                <a:sym typeface="Rubik"/>
              </a:rPr>
              <a:t>השתיים הוזמנו להגיש פרחים למנהיגים בטקס חתימת הסכם השלום בין המדינות.</a:t>
            </a:r>
            <a:endParaRPr sz="19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9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900">
                <a:solidFill>
                  <a:srgbClr val="F3EFE6"/>
                </a:solidFill>
                <a:latin typeface="Rubik"/>
                <a:ea typeface="Rubik"/>
                <a:cs typeface="Rubik"/>
                <a:sym typeface="Rubik"/>
              </a:rPr>
              <a:t>אבל למה נבחרו דווקא הן?</a:t>
            </a:r>
            <a:endParaRPr sz="1900">
              <a:solidFill>
                <a:srgbClr val="F3EFE6"/>
              </a:solidFill>
              <a:latin typeface="Rubik"/>
              <a:ea typeface="Rubik"/>
              <a:cs typeface="Rubik"/>
              <a:sym typeface="Rubik"/>
            </a:endParaRPr>
          </a:p>
        </p:txBody>
      </p:sp>
      <p:pic>
        <p:nvPicPr>
          <p:cNvPr id="65" name="Google Shape;65;p14"/>
          <p:cNvPicPr preferRelativeResize="0"/>
          <p:nvPr/>
        </p:nvPicPr>
        <p:blipFill>
          <a:blip r:embed="rId3">
            <a:alphaModFix/>
          </a:blip>
          <a:stretch>
            <a:fillRect/>
          </a:stretch>
        </p:blipFill>
        <p:spPr>
          <a:xfrm>
            <a:off x="1172638" y="0"/>
            <a:ext cx="3469632" cy="5143501"/>
          </a:xfrm>
          <a:prstGeom prst="rect">
            <a:avLst/>
          </a:prstGeom>
          <a:noFill/>
          <a:ln>
            <a:noFill/>
          </a:ln>
        </p:spPr>
      </p:pic>
      <p:pic>
        <p:nvPicPr>
          <p:cNvPr id="66" name="Google Shape;66;p14"/>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70" name="Shape 70"/>
        <p:cNvGrpSpPr/>
        <p:nvPr/>
      </p:nvGrpSpPr>
      <p:grpSpPr>
        <a:xfrm>
          <a:off x="0" y="0"/>
          <a:ext cx="0" cy="0"/>
          <a:chOff x="0" y="0"/>
          <a:chExt cx="0" cy="0"/>
        </a:xfrm>
      </p:grpSpPr>
      <p:pic>
        <p:nvPicPr>
          <p:cNvPr id="71" name="Google Shape;71;p15"/>
          <p:cNvPicPr preferRelativeResize="0"/>
          <p:nvPr/>
        </p:nvPicPr>
        <p:blipFill rotWithShape="1">
          <a:blip r:embed="rId3">
            <a:alphaModFix/>
          </a:blip>
          <a:srcRect b="0" l="1517" r="0" t="9999"/>
          <a:stretch/>
        </p:blipFill>
        <p:spPr>
          <a:xfrm>
            <a:off x="0" y="0"/>
            <a:ext cx="5628598" cy="5143500"/>
          </a:xfrm>
          <a:prstGeom prst="rect">
            <a:avLst/>
          </a:prstGeom>
          <a:noFill/>
          <a:ln>
            <a:noFill/>
          </a:ln>
        </p:spPr>
      </p:pic>
      <p:sp>
        <p:nvSpPr>
          <p:cNvPr id="72" name="Google Shape;72;p15"/>
          <p:cNvSpPr/>
          <p:nvPr/>
        </p:nvSpPr>
        <p:spPr>
          <a:xfrm>
            <a:off x="5570825" y="0"/>
            <a:ext cx="5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5"/>
          <p:cNvSpPr txBox="1"/>
          <p:nvPr/>
        </p:nvSpPr>
        <p:spPr>
          <a:xfrm>
            <a:off x="5811700" y="388800"/>
            <a:ext cx="3078300" cy="42420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מאחורי התמונה מסתתר סיפור עצוב. סבא של לי היה צנחן ישראלי. סבא של היבא היה טייס ירדני. שניהם נהרגו במלחמת ששת הימים, כל אחד בצד אחר של הגבול.</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עשרים ושבע שנים אחר כך, הנכדות עומדות יחד, אוחזות ידיים ומגישות פרחים.</a:t>
            </a:r>
            <a:endParaRPr sz="1800">
              <a:solidFill>
                <a:srgbClr val="F3EFE6"/>
              </a:solidFill>
              <a:latin typeface="Rubik"/>
              <a:ea typeface="Rubik"/>
              <a:cs typeface="Rubik"/>
              <a:sym typeface="Rubik"/>
            </a:endParaRPr>
          </a:p>
        </p:txBody>
      </p:sp>
      <p:pic>
        <p:nvPicPr>
          <p:cNvPr id="74" name="Google Shape;74;p15"/>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78" name="Shape 78"/>
        <p:cNvGrpSpPr/>
        <p:nvPr/>
      </p:nvGrpSpPr>
      <p:grpSpPr>
        <a:xfrm>
          <a:off x="0" y="0"/>
          <a:ext cx="0" cy="0"/>
          <a:chOff x="0" y="0"/>
          <a:chExt cx="0" cy="0"/>
        </a:xfrm>
      </p:grpSpPr>
      <p:pic>
        <p:nvPicPr>
          <p:cNvPr descr="(31 Oct 1994) STORY:    SIGNING &#10;LOCATION: ARABA, ISRAELI-JORDANIAN BORDER &#10;DATE:     26 OCTOBER 1994 &#10;DURATION: 2.05 &#10; &#10;Israel and Jordan sign historic peace treaty &#10; &#10;Israel and Jordan ended 46 years of hostility on Wednesday, &#10;(26/10) by signing a peace treaty witnessed by US President Bill &#10;Clinton at the Arava desert border crossing south of the Dead Sea. &#10;The prime ministers of both countries signed the historic document &#10;to the applause of nearly 5,000 guests. Yitzhak Rabin signed for &#10;Israel while King Hussein looked on as his prime minister &#10;Abdul-Salam al-Majali signed for Jordan. Clinton welcomed the &#10;treaty, saying it had broken the chains of the past in the Middle &#10;East. Israel signed its first and only other treaty with an Arab &#10;state in 1979 with Egypt. Last year it signed an interim peace &#10;deal with the Palestine Liberation Organisation. The treaty, &#10;backed by all Israelis except the extreme rightwing, ended a &#10;46-year-old state of war between Jordan and Israel. However, it &#10;was condemned by the Palestine Liberation Organisation (PLO) and &#10;Muslim militants on both sides of the border. The signing ended &#10;with the release of 10,000 balloons in the colours of the Israeli &#10;and Jordanian flags. &#10; &#10;SHOWS:  &#10; &#10;(ARABA, JORDAN, 26/10)  &#10;High-shot of motorcade. WS podium. &#10;Rabin, Clinton and Hussein on podium. CU Hussein. Flower girls on &#10;stage. High-shot flower girls and leaders. Islamic scholar &#10;speaking. WS ceremony, flags flying. Rabbi speaking. WS ceremony. &#10;English SOT King Hussein: &quot;This is peace with commitment.&quot; Clinton &#10;applauding. Rabin speaking. English SOT Rabin: &quot;Time has come not &#10;only to dream peace but to realize it.&quot; Signing of treaty. CU &#10;treaty signed. SOT Clinton: &quot;You will take hatred out of hearts.&quot; &#10;....../more &#10; &#10;Find out more about AP Archive: http://www.aparchive.com/HowWeWork  &#10;Twitter: https://twitter.com/AP_Archive  &#10;Facebook: https://www.facebook.com/APArchives ​​ &#10;Instagram: https://www.instagram.com/APNews/ &#10; &#10; &#10;You can license this story through AP Archive: http://www.aparchive.com/metadata/youtube/61437949fa54dd41aadbdaadd2a598d4" id="79" name="Google Shape;79;p16" title="Israel And Jordan Sign Historic Peace Treaty">
            <a:hlinkClick r:id="rId3"/>
          </p:cNvPr>
          <p:cNvPicPr preferRelativeResize="0"/>
          <p:nvPr/>
        </p:nvPicPr>
        <p:blipFill>
          <a:blip r:embed="rId4">
            <a:alphaModFix/>
          </a:blip>
          <a:stretch>
            <a:fillRect/>
          </a:stretch>
        </p:blipFill>
        <p:spPr>
          <a:xfrm>
            <a:off x="1128975" y="591575"/>
            <a:ext cx="6886050" cy="3873400"/>
          </a:xfrm>
          <a:prstGeom prst="rect">
            <a:avLst/>
          </a:prstGeom>
          <a:noFill/>
          <a:ln>
            <a:noFill/>
          </a:ln>
        </p:spPr>
      </p:pic>
      <p:pic>
        <p:nvPicPr>
          <p:cNvPr id="80" name="Google Shape;80;p16"/>
          <p:cNvPicPr preferRelativeResize="0"/>
          <p:nvPr/>
        </p:nvPicPr>
        <p:blipFill>
          <a:blip r:embed="rId5">
            <a:alphaModFix/>
          </a:blip>
          <a:stretch>
            <a:fillRect/>
          </a:stretch>
        </p:blipFill>
        <p:spPr>
          <a:xfrm>
            <a:off x="7932800" y="4642125"/>
            <a:ext cx="1167300" cy="40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84" name="Shape 84"/>
        <p:cNvGrpSpPr/>
        <p:nvPr/>
      </p:nvGrpSpPr>
      <p:grpSpPr>
        <a:xfrm>
          <a:off x="0" y="0"/>
          <a:ext cx="0" cy="0"/>
          <a:chOff x="0" y="0"/>
          <a:chExt cx="0" cy="0"/>
        </a:xfrm>
      </p:grpSpPr>
      <p:sp>
        <p:nvSpPr>
          <p:cNvPr id="85" name="Google Shape;85;p17"/>
          <p:cNvSpPr txBox="1"/>
          <p:nvPr/>
        </p:nvSpPr>
        <p:spPr>
          <a:xfrm>
            <a:off x="5089125" y="693425"/>
            <a:ext cx="3645600" cy="3906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במשך עשרות שנים ישראל וירדן היו מדינות אויבות. הן נלחמו זו בזו, והגבול ביניהן היה סגור ושמור בחיילים, בגדרות ובמוקשים.</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15000"/>
              </a:lnSpc>
              <a:spcBef>
                <a:spcPts val="1200"/>
              </a:spcBef>
              <a:spcAft>
                <a:spcPts val="0"/>
              </a:spcAft>
              <a:buClr>
                <a:schemeClr val="dk1"/>
              </a:buClr>
              <a:buSzPts val="1100"/>
              <a:buFont typeface="Arial"/>
              <a:buNone/>
            </a:pPr>
            <a:r>
              <a:rPr lang="en-GB" sz="1800">
                <a:solidFill>
                  <a:srgbClr val="F3EFE6"/>
                </a:solidFill>
                <a:latin typeface="Rubik"/>
                <a:ea typeface="Rubik"/>
                <a:cs typeface="Rubik"/>
                <a:sym typeface="Rubik"/>
              </a:rPr>
              <a:t>ילדים שחיו משני צדי הגבול יכלו להיות שכנים קרובים מאוד, ובכל זאת לא להיפגש לעולם. אבל האם זה חייב היה להישאר כך לנצח?</a:t>
            </a:r>
            <a:endParaRPr sz="1800">
              <a:solidFill>
                <a:srgbClr val="F3EFE6"/>
              </a:solidFill>
              <a:latin typeface="Rubik"/>
              <a:ea typeface="Rubik"/>
              <a:cs typeface="Rubik"/>
              <a:sym typeface="Rubik"/>
            </a:endParaRPr>
          </a:p>
          <a:p>
            <a:pPr indent="0" lvl="0" marL="0" rtl="1" algn="r">
              <a:lnSpc>
                <a:spcPct val="121000"/>
              </a:lnSpc>
              <a:spcBef>
                <a:spcPts val="120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p:txBody>
      </p:sp>
      <p:pic>
        <p:nvPicPr>
          <p:cNvPr id="86" name="Google Shape;86;p17"/>
          <p:cNvPicPr preferRelativeResize="0"/>
          <p:nvPr/>
        </p:nvPicPr>
        <p:blipFill rotWithShape="1">
          <a:blip r:embed="rId3">
            <a:alphaModFix/>
          </a:blip>
          <a:srcRect b="3754" l="0" r="0" t="8734"/>
          <a:stretch/>
        </p:blipFill>
        <p:spPr>
          <a:xfrm>
            <a:off x="1045900" y="12675"/>
            <a:ext cx="3411239" cy="5143500"/>
          </a:xfrm>
          <a:prstGeom prst="rect">
            <a:avLst/>
          </a:prstGeom>
          <a:noFill/>
          <a:ln>
            <a:noFill/>
          </a:ln>
        </p:spPr>
      </p:pic>
      <p:pic>
        <p:nvPicPr>
          <p:cNvPr id="87" name="Google Shape;87;p17"/>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91" name="Shape 91"/>
        <p:cNvGrpSpPr/>
        <p:nvPr/>
      </p:nvGrpSpPr>
      <p:grpSpPr>
        <a:xfrm>
          <a:off x="0" y="0"/>
          <a:ext cx="0" cy="0"/>
          <a:chOff x="0" y="0"/>
          <a:chExt cx="0" cy="0"/>
        </a:xfrm>
      </p:grpSpPr>
      <p:pic>
        <p:nvPicPr>
          <p:cNvPr id="92" name="Google Shape;92;p18"/>
          <p:cNvPicPr preferRelativeResize="0"/>
          <p:nvPr/>
        </p:nvPicPr>
        <p:blipFill rotWithShape="1">
          <a:blip r:embed="rId3">
            <a:alphaModFix/>
          </a:blip>
          <a:srcRect b="0" l="3195" r="0" t="44339"/>
          <a:stretch/>
        </p:blipFill>
        <p:spPr>
          <a:xfrm>
            <a:off x="1" y="1494625"/>
            <a:ext cx="9144004" cy="3420200"/>
          </a:xfrm>
          <a:prstGeom prst="rect">
            <a:avLst/>
          </a:prstGeom>
          <a:noFill/>
          <a:ln>
            <a:noFill/>
          </a:ln>
        </p:spPr>
      </p:pic>
      <p:sp>
        <p:nvSpPr>
          <p:cNvPr id="93" name="Google Shape;93;p18"/>
          <p:cNvSpPr txBox="1"/>
          <p:nvPr/>
        </p:nvSpPr>
        <p:spPr>
          <a:xfrm>
            <a:off x="381000" y="216300"/>
            <a:ext cx="8477400" cy="12417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Clr>
                <a:schemeClr val="dk1"/>
              </a:buClr>
              <a:buSzPts val="1100"/>
              <a:buFont typeface="Arial"/>
              <a:buNone/>
            </a:pPr>
            <a:r>
              <a:rPr lang="en-GB" sz="1900">
                <a:solidFill>
                  <a:srgbClr val="F3EFE6"/>
                </a:solidFill>
                <a:latin typeface="Rubik"/>
                <a:ea typeface="Rubik"/>
                <a:cs typeface="Rubik"/>
                <a:sym typeface="Rubik"/>
              </a:rPr>
              <a:t>כדי לשנות מציאות של עשרות שנות איבה, לא מספיקה לחיצת יד. צריך קודם כול להסכים לדבר. וזה לא היה פשוט. ישראל וירדן החלו לחפש תשובות סביב שולחן המשא ומתן. הן דיברו על גבולות, על מים ועל ביטחון, ונדרשו גם לפשרות לא קלות</a:t>
            </a:r>
            <a:r>
              <a:rPr lang="en-GB" sz="1800">
                <a:solidFill>
                  <a:srgbClr val="F3EFE6"/>
                </a:solidFill>
                <a:latin typeface="Rubik"/>
                <a:ea typeface="Rubik"/>
                <a:cs typeface="Rubik"/>
                <a:sym typeface="Rubik"/>
              </a:rPr>
              <a:t>.</a:t>
            </a:r>
            <a:endParaRPr sz="1800">
              <a:solidFill>
                <a:srgbClr val="F3EFE6"/>
              </a:solidFill>
              <a:latin typeface="Rubik"/>
              <a:ea typeface="Rubik"/>
              <a:cs typeface="Rubik"/>
              <a:sym typeface="Rubik"/>
            </a:endParaRPr>
          </a:p>
          <a:p>
            <a:pPr indent="0" lvl="0" marL="0" rtl="1" algn="r">
              <a:lnSpc>
                <a:spcPct val="121000"/>
              </a:lnSpc>
              <a:spcBef>
                <a:spcPts val="1200"/>
              </a:spcBef>
              <a:spcAft>
                <a:spcPts val="0"/>
              </a:spcAft>
              <a:buNone/>
            </a:pPr>
            <a:r>
              <a:t/>
            </a:r>
            <a:endParaRPr sz="1900">
              <a:solidFill>
                <a:srgbClr val="F3EFE6"/>
              </a:solidFill>
              <a:latin typeface="Rubik"/>
              <a:ea typeface="Rubik"/>
              <a:cs typeface="Rubik"/>
              <a:sym typeface="Rubi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97" name="Shape 97"/>
        <p:cNvGrpSpPr/>
        <p:nvPr/>
      </p:nvGrpSpPr>
      <p:grpSpPr>
        <a:xfrm>
          <a:off x="0" y="0"/>
          <a:ext cx="0" cy="0"/>
          <a:chOff x="0" y="0"/>
          <a:chExt cx="0" cy="0"/>
        </a:xfrm>
      </p:grpSpPr>
      <p:pic>
        <p:nvPicPr>
          <p:cNvPr id="98" name="Google Shape;98;p19"/>
          <p:cNvPicPr preferRelativeResize="0"/>
          <p:nvPr/>
        </p:nvPicPr>
        <p:blipFill rotWithShape="1">
          <a:blip r:embed="rId3">
            <a:alphaModFix/>
          </a:blip>
          <a:srcRect b="0" l="11108" r="13175" t="0"/>
          <a:stretch/>
        </p:blipFill>
        <p:spPr>
          <a:xfrm>
            <a:off x="0" y="15175"/>
            <a:ext cx="5842775" cy="5143501"/>
          </a:xfrm>
          <a:prstGeom prst="rect">
            <a:avLst/>
          </a:prstGeom>
          <a:noFill/>
          <a:ln>
            <a:noFill/>
          </a:ln>
        </p:spPr>
      </p:pic>
      <p:sp>
        <p:nvSpPr>
          <p:cNvPr id="99" name="Google Shape;99;p19"/>
          <p:cNvSpPr/>
          <p:nvPr/>
        </p:nvSpPr>
        <p:spPr>
          <a:xfrm>
            <a:off x="5842775" y="0"/>
            <a:ext cx="627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9"/>
          <p:cNvSpPr txBox="1"/>
          <p:nvPr/>
        </p:nvSpPr>
        <p:spPr>
          <a:xfrm>
            <a:off x="6026050" y="320925"/>
            <a:ext cx="2959200" cy="41385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ב־26 באוקטובר 1994 הגיע הרגע הגדול: בלב הערבה חתמו ישראל וירדן על הסכם שלום.</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ראש ממשלת ישראל, יצחק רבין, והמלך חוסיין מירדן לחצו ידיים מול מצלמות מכל העולם.</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אחרי עשרות שנים של מלחמה, נפתחה דרך חדשה.</a:t>
            </a:r>
            <a:endParaRPr sz="1800">
              <a:solidFill>
                <a:srgbClr val="F3EFE6"/>
              </a:solidFill>
              <a:latin typeface="Rubik"/>
              <a:ea typeface="Rubik"/>
              <a:cs typeface="Rubik"/>
              <a:sym typeface="Rubik"/>
            </a:endParaRPr>
          </a:p>
        </p:txBody>
      </p:sp>
      <p:pic>
        <p:nvPicPr>
          <p:cNvPr id="101" name="Google Shape;101;p19"/>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05" name="Shape 105"/>
        <p:cNvGrpSpPr/>
        <p:nvPr/>
      </p:nvGrpSpPr>
      <p:grpSpPr>
        <a:xfrm>
          <a:off x="0" y="0"/>
          <a:ext cx="0" cy="0"/>
          <a:chOff x="0" y="0"/>
          <a:chExt cx="0" cy="0"/>
        </a:xfrm>
      </p:grpSpPr>
      <p:sp>
        <p:nvSpPr>
          <p:cNvPr id="106" name="Google Shape;106;p20"/>
          <p:cNvSpPr/>
          <p:nvPr/>
        </p:nvSpPr>
        <p:spPr>
          <a:xfrm>
            <a:off x="5990398" y="0"/>
            <a:ext cx="627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0"/>
          <p:cNvSpPr txBox="1"/>
          <p:nvPr/>
        </p:nvSpPr>
        <p:spPr>
          <a:xfrm>
            <a:off x="6200725" y="1097900"/>
            <a:ext cx="2785200" cy="26160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בטקס השלום רבין לא דיבר רק על גבולות ועל צבאות. הוא בחר לדבר על תינוקות שנולדו באותו בוקר בירושלים ובעמאן, ועל העתיד שהוא מאחל להם.</a:t>
            </a:r>
            <a:endParaRPr sz="1800">
              <a:solidFill>
                <a:srgbClr val="F3EFE6"/>
              </a:solidFill>
              <a:latin typeface="Rubik"/>
              <a:ea typeface="Rubik"/>
              <a:cs typeface="Rubik"/>
              <a:sym typeface="Rubik"/>
            </a:endParaRPr>
          </a:p>
        </p:txBody>
      </p:sp>
      <p:pic>
        <p:nvPicPr>
          <p:cNvPr id="108" name="Google Shape;108;p20"/>
          <p:cNvPicPr preferRelativeResize="0"/>
          <p:nvPr/>
        </p:nvPicPr>
        <p:blipFill>
          <a:blip r:embed="rId3">
            <a:alphaModFix/>
          </a:blip>
          <a:stretch>
            <a:fillRect/>
          </a:stretch>
        </p:blipFill>
        <p:spPr>
          <a:xfrm>
            <a:off x="7932800" y="4642125"/>
            <a:ext cx="1167300" cy="407700"/>
          </a:xfrm>
          <a:prstGeom prst="rect">
            <a:avLst/>
          </a:prstGeom>
          <a:noFill/>
          <a:ln>
            <a:noFill/>
          </a:ln>
        </p:spPr>
      </p:pic>
      <p:pic>
        <p:nvPicPr>
          <p:cNvPr id="109" name="Google Shape;109;p20"/>
          <p:cNvPicPr preferRelativeResize="0"/>
          <p:nvPr/>
        </p:nvPicPr>
        <p:blipFill rotWithShape="1">
          <a:blip r:embed="rId4">
            <a:alphaModFix/>
          </a:blip>
          <a:srcRect b="0" l="0" r="2695" t="0"/>
          <a:stretch/>
        </p:blipFill>
        <p:spPr>
          <a:xfrm>
            <a:off x="0" y="373613"/>
            <a:ext cx="5990400" cy="43525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13" name="Shape 113"/>
        <p:cNvGrpSpPr/>
        <p:nvPr/>
      </p:nvGrpSpPr>
      <p:grpSpPr>
        <a:xfrm>
          <a:off x="0" y="0"/>
          <a:ext cx="0" cy="0"/>
          <a:chOff x="0" y="0"/>
          <a:chExt cx="0" cy="0"/>
        </a:xfrm>
      </p:grpSpPr>
      <p:pic>
        <p:nvPicPr>
          <p:cNvPr descr="(26 Oct 1994) Israel and Jordan ended 46 years of hostility on Wednesday, &#10;(26/10) by signing a peace treaty witnessed by U.S. President Bill &#10;Clinton at the Arava desert border crossing south of the Dead Sea. &#10;The prime ministers of both countries signed the historic document &#10;to the applause of nearly 5,000 guests. Yitzhak Rabin signed for &#10;Israel while King Hussein looked on as his prime minister &#10;Abdul-Salam al-Majali signed for Jordan. Clinton welcomed the &#10;treaty, saying it had broken the chains of the past in the Middle &#10;East. &#10;SHOWS: &#10;ISRAEL-JORDAN, 26/10 &#10;ws ceremony, zoom in on podium &#10;israeli prime minister yitzhak rabin up to podium &#10;ca audience applauding &#10;rabin eng sot: &quot;the time has come not just to dream of a better &#10;   future but to realize it.&quot; &#10;ca bill clinton applauding and jordan's king hussein listening &#10;cu clinton, voice of rabin eng sot: &quot;president clinton, thank you &#10;   for your tremendous and vital support.. for this result.&quot; &#10;ca hillary clinton and jordan's queen noor applauding &#10;rabin eng sot:  &quot;allow me to end by the simple word 'shalom'.&quot; &#10;rabin leaving microphone &#10;ca ws ceremony &#10;u.s. secretary of state warren christopher sot: &quot;this place that &#10;  for decades was nothing more than a field of mines was turned &#10;  over night into a field of dreams. today we are again honoured &#10;  to bear witness as those dreams come true.&quot; &#10;ca security &#10;russian foreign minister andrei kozyrev eng sot: &quot;(i) assure you &#10;   that russia is a co-sponsor of the peace process and will be &#10;   with you on all tracks until there is firm peace and after &#10;   that..&quot; &#10;kozyrev leaving microphone &#10;ca podium &#10;pan along dignitaries, clinton up to microphone, sot:  &quot;i say to &#10;   the people of israel and jordan: now you must make this peace &#10;   real.. take down barbed wire.. open ypour borders and hearts. &#10;   peace is more than an agreement on paper...&quot; &#10;pan across audience applauding &#10;rabin, jordanian premier abdel salam majali and clinton sitting &#10;down for signing &#10;cu rabin, majali and clinton signing &#10;clinton wiping a tear &#10;balloons released into sky (MUTE) &#10;6.05 &#10; &#10;Find out more about AP Archive: http://www.aparchive.com/HowWeWork  &#10;Twitter: https://twitter.com/AP_Archive  &#10;Facebook: https://www.facebook.com/APArchives ​​ &#10;Instagram: https://www.instagram.com/APNews/ &#10; &#10; &#10;You can license this story through AP Archive: http://www.aparchive.com/metadata/youtube/f5aa873b7bc167ac767d9a947d644251" id="114" name="Google Shape;114;p21" title="Israel/Jordan - Signing Of Peace Treaty">
            <a:hlinkClick r:id="rId3"/>
          </p:cNvPr>
          <p:cNvPicPr preferRelativeResize="0"/>
          <p:nvPr/>
        </p:nvPicPr>
        <p:blipFill>
          <a:blip r:embed="rId4">
            <a:alphaModFix/>
          </a:blip>
          <a:stretch>
            <a:fillRect/>
          </a:stretch>
        </p:blipFill>
        <p:spPr>
          <a:xfrm>
            <a:off x="1014500" y="543575"/>
            <a:ext cx="6954125" cy="3911700"/>
          </a:xfrm>
          <a:prstGeom prst="rect">
            <a:avLst/>
          </a:prstGeom>
          <a:noFill/>
          <a:ln>
            <a:noFill/>
          </a:ln>
        </p:spPr>
      </p:pic>
      <p:pic>
        <p:nvPicPr>
          <p:cNvPr id="115" name="Google Shape;115;p21"/>
          <p:cNvPicPr preferRelativeResize="0"/>
          <p:nvPr/>
        </p:nvPicPr>
        <p:blipFill>
          <a:blip r:embed="rId5">
            <a:alphaModFix/>
          </a:blip>
          <a:stretch>
            <a:fillRect/>
          </a:stretch>
        </p:blipFill>
        <p:spPr>
          <a:xfrm>
            <a:off x="7932800" y="4642125"/>
            <a:ext cx="1167300" cy="40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3">
            <a:alphaModFix/>
          </a:blip>
          <a:srcRect b="0" l="10714" r="5054" t="0"/>
          <a:stretch/>
        </p:blipFill>
        <p:spPr>
          <a:xfrm>
            <a:off x="-220826" y="0"/>
            <a:ext cx="6397851" cy="5143498"/>
          </a:xfrm>
          <a:prstGeom prst="rect">
            <a:avLst/>
          </a:prstGeom>
          <a:noFill/>
          <a:ln>
            <a:noFill/>
          </a:ln>
        </p:spPr>
      </p:pic>
      <p:sp>
        <p:nvSpPr>
          <p:cNvPr id="121" name="Google Shape;121;p22"/>
          <p:cNvSpPr/>
          <p:nvPr/>
        </p:nvSpPr>
        <p:spPr>
          <a:xfrm>
            <a:off x="6177015"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2"/>
          <p:cNvSpPr txBox="1"/>
          <p:nvPr/>
        </p:nvSpPr>
        <p:spPr>
          <a:xfrm>
            <a:off x="6371100" y="433325"/>
            <a:ext cx="2562600" cy="35037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1000"/>
              </a:spcBef>
              <a:spcAft>
                <a:spcPts val="0"/>
              </a:spcAft>
              <a:buNone/>
            </a:pPr>
            <a:r>
              <a:rPr lang="en-GB" sz="1850">
                <a:solidFill>
                  <a:srgbClr val="F3EFE6"/>
                </a:solidFill>
                <a:latin typeface="Rubik"/>
                <a:ea typeface="Rubik"/>
                <a:cs typeface="Rubik"/>
                <a:sym typeface="Rubik"/>
              </a:rPr>
              <a:t>בנאומו בטקס הביט רבין אל המדבר שמשני צדי הגבול והשווה אותו ליחסים בין ישראל לירדן במשך השנים:</a:t>
            </a:r>
            <a:endParaRPr sz="1850">
              <a:solidFill>
                <a:srgbClr val="F3EFE6"/>
              </a:solidFill>
              <a:latin typeface="Rubik"/>
              <a:ea typeface="Rubik"/>
              <a:cs typeface="Rubik"/>
              <a:sym typeface="Rubik"/>
            </a:endParaRPr>
          </a:p>
          <a:p>
            <a:pPr indent="0" lvl="0" marL="0" rtl="1" algn="r">
              <a:lnSpc>
                <a:spcPct val="121000"/>
              </a:lnSpc>
              <a:spcBef>
                <a:spcPts val="1000"/>
              </a:spcBef>
              <a:spcAft>
                <a:spcPts val="0"/>
              </a:spcAft>
              <a:buNone/>
            </a:pPr>
            <a:r>
              <a:rPr lang="en-GB" sz="1850">
                <a:solidFill>
                  <a:srgbClr val="F3EFE6"/>
                </a:solidFill>
                <a:latin typeface="Rubik"/>
                <a:ea typeface="Rubik"/>
                <a:cs typeface="Rubik"/>
                <a:sym typeface="Rubik"/>
              </a:rPr>
              <a:t>״מדבר צחיח. אף לא עלה ירוק אחד. לא עץ, גם לא פרח.״</a:t>
            </a:r>
            <a:r>
              <a:rPr lang="en-GB" sz="1850">
                <a:solidFill>
                  <a:srgbClr val="F3EFE6"/>
                </a:solidFill>
                <a:latin typeface="Rubik"/>
                <a:ea typeface="Rubik"/>
                <a:cs typeface="Rubik"/>
                <a:sym typeface="Rubik"/>
              </a:rPr>
              <a:t> </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6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650">
              <a:solidFill>
                <a:srgbClr val="F3EFE6"/>
              </a:solidFill>
              <a:latin typeface="Rubik"/>
              <a:ea typeface="Rubik"/>
              <a:cs typeface="Rubik"/>
              <a:sym typeface="Rubik"/>
            </a:endParaRPr>
          </a:p>
        </p:txBody>
      </p:sp>
      <p:pic>
        <p:nvPicPr>
          <p:cNvPr id="123" name="Google Shape;123;p22"/>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27" name="Shape 127"/>
        <p:cNvGrpSpPr/>
        <p:nvPr/>
      </p:nvGrpSpPr>
      <p:grpSpPr>
        <a:xfrm>
          <a:off x="0" y="0"/>
          <a:ext cx="0" cy="0"/>
          <a:chOff x="0" y="0"/>
          <a:chExt cx="0" cy="0"/>
        </a:xfrm>
      </p:grpSpPr>
      <p:pic>
        <p:nvPicPr>
          <p:cNvPr id="128" name="Google Shape;128;p23"/>
          <p:cNvPicPr preferRelativeResize="0"/>
          <p:nvPr/>
        </p:nvPicPr>
        <p:blipFill rotWithShape="1">
          <a:blip r:embed="rId3">
            <a:alphaModFix/>
          </a:blip>
          <a:srcRect b="-927" l="0" r="21581" t="5397"/>
          <a:stretch/>
        </p:blipFill>
        <p:spPr>
          <a:xfrm>
            <a:off x="0" y="0"/>
            <a:ext cx="6328574" cy="5143501"/>
          </a:xfrm>
          <a:prstGeom prst="rect">
            <a:avLst/>
          </a:prstGeom>
          <a:noFill/>
          <a:ln>
            <a:noFill/>
          </a:ln>
        </p:spPr>
      </p:pic>
      <p:sp>
        <p:nvSpPr>
          <p:cNvPr id="129" name="Google Shape;129;p23"/>
          <p:cNvSpPr/>
          <p:nvPr/>
        </p:nvSpPr>
        <p:spPr>
          <a:xfrm>
            <a:off x="5796300" y="0"/>
            <a:ext cx="3347700" cy="5143500"/>
          </a:xfrm>
          <a:prstGeom prst="rect">
            <a:avLst/>
          </a:prstGeom>
          <a:solidFill>
            <a:srgbClr val="1027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3"/>
          <p:cNvSpPr/>
          <p:nvPr/>
        </p:nvSpPr>
        <p:spPr>
          <a:xfrm>
            <a:off x="5796302"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3"/>
          <p:cNvSpPr txBox="1"/>
          <p:nvPr/>
        </p:nvSpPr>
        <p:spPr>
          <a:xfrm>
            <a:off x="6019800" y="433325"/>
            <a:ext cx="2875500" cy="33351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50">
                <a:solidFill>
                  <a:srgbClr val="F3EFE6"/>
                </a:solidFill>
                <a:latin typeface="Rubik"/>
                <a:ea typeface="Rubik"/>
                <a:cs typeface="Rubik"/>
                <a:sym typeface="Rubik"/>
              </a:rPr>
              <a:t>ועכשיו חזרו רגע אל שתי הילדות שאוחזות ידיים.</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50">
                <a:solidFill>
                  <a:srgbClr val="F3EFE6"/>
                </a:solidFill>
                <a:latin typeface="Rubik"/>
                <a:ea typeface="Rubik"/>
                <a:cs typeface="Rubik"/>
                <a:sym typeface="Rubik"/>
              </a:rPr>
              <a:t>הסבים שלהן נהרגו במלחמה. הן הגיעו לטקס השלום עם זרי פרחים.</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50">
                <a:solidFill>
                  <a:srgbClr val="F3EFE6"/>
                </a:solidFill>
                <a:latin typeface="Rubik"/>
                <a:ea typeface="Rubik"/>
                <a:cs typeface="Rubik"/>
                <a:sym typeface="Rubik"/>
              </a:rPr>
              <a:t>פתאום הפרחים הקטנים מספרים סיפור גדול.</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50">
              <a:solidFill>
                <a:srgbClr val="F3EFE6"/>
              </a:solidFill>
              <a:latin typeface="Rubik"/>
              <a:ea typeface="Rubik"/>
              <a:cs typeface="Rubik"/>
              <a:sym typeface="Rubik"/>
            </a:endParaRPr>
          </a:p>
        </p:txBody>
      </p:sp>
      <p:pic>
        <p:nvPicPr>
          <p:cNvPr id="132" name="Google Shape;132;p23"/>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36" name="Shape 136"/>
        <p:cNvGrpSpPr/>
        <p:nvPr/>
      </p:nvGrpSpPr>
      <p:grpSpPr>
        <a:xfrm>
          <a:off x="0" y="0"/>
          <a:ext cx="0" cy="0"/>
          <a:chOff x="0" y="0"/>
          <a:chExt cx="0" cy="0"/>
        </a:xfrm>
      </p:grpSpPr>
      <p:pic>
        <p:nvPicPr>
          <p:cNvPr id="137" name="Google Shape;137;p24"/>
          <p:cNvPicPr preferRelativeResize="0"/>
          <p:nvPr/>
        </p:nvPicPr>
        <p:blipFill rotWithShape="1">
          <a:blip r:embed="rId3">
            <a:alphaModFix/>
          </a:blip>
          <a:srcRect b="0" l="13771" r="0" t="0"/>
          <a:stretch/>
        </p:blipFill>
        <p:spPr>
          <a:xfrm>
            <a:off x="0" y="2125"/>
            <a:ext cx="6680202" cy="5164652"/>
          </a:xfrm>
          <a:prstGeom prst="rect">
            <a:avLst/>
          </a:prstGeom>
          <a:noFill/>
          <a:ln>
            <a:noFill/>
          </a:ln>
        </p:spPr>
      </p:pic>
      <p:sp>
        <p:nvSpPr>
          <p:cNvPr id="138" name="Google Shape;138;p24"/>
          <p:cNvSpPr/>
          <p:nvPr/>
        </p:nvSpPr>
        <p:spPr>
          <a:xfrm>
            <a:off x="5829300" y="12700"/>
            <a:ext cx="3189900" cy="5143500"/>
          </a:xfrm>
          <a:prstGeom prst="rect">
            <a:avLst/>
          </a:prstGeom>
          <a:solidFill>
            <a:srgbClr val="1027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24"/>
          <p:cNvSpPr/>
          <p:nvPr/>
        </p:nvSpPr>
        <p:spPr>
          <a:xfrm>
            <a:off x="5829300"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24"/>
          <p:cNvSpPr txBox="1"/>
          <p:nvPr/>
        </p:nvSpPr>
        <p:spPr>
          <a:xfrm>
            <a:off x="5967075" y="523200"/>
            <a:ext cx="3005400" cy="3708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לחיצת היד הייתה רק ההתחלה. בעקבות ההסכם נפתחו מעברי גבול, וישראלים יכלו לנסוע לירדן ולפגוש שכנים שמעולם לא הכירו.</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אפילו פטרה, עיר עתיקה ומרהיבה החצובה בסלע, הפכה למקום שאפשר לבקר בו.</a:t>
            </a:r>
            <a:endParaRPr sz="1800">
              <a:solidFill>
                <a:srgbClr val="F3EFE6"/>
              </a:solidFill>
              <a:latin typeface="Rubik"/>
              <a:ea typeface="Rubik"/>
              <a:cs typeface="Rubik"/>
              <a:sym typeface="Rubik"/>
            </a:endParaRPr>
          </a:p>
        </p:txBody>
      </p:sp>
      <p:pic>
        <p:nvPicPr>
          <p:cNvPr id="141" name="Google Shape;141;p24"/>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45" name="Shape 145"/>
        <p:cNvGrpSpPr/>
        <p:nvPr/>
      </p:nvGrpSpPr>
      <p:grpSpPr>
        <a:xfrm>
          <a:off x="0" y="0"/>
          <a:ext cx="0" cy="0"/>
          <a:chOff x="0" y="0"/>
          <a:chExt cx="0" cy="0"/>
        </a:xfrm>
      </p:grpSpPr>
      <p:sp>
        <p:nvSpPr>
          <p:cNvPr id="146" name="Google Shape;146;p25"/>
          <p:cNvSpPr/>
          <p:nvPr/>
        </p:nvSpPr>
        <p:spPr>
          <a:xfrm>
            <a:off x="5600700" y="0"/>
            <a:ext cx="3543300" cy="5143500"/>
          </a:xfrm>
          <a:prstGeom prst="rect">
            <a:avLst/>
          </a:prstGeom>
          <a:solidFill>
            <a:srgbClr val="1027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5"/>
          <p:cNvSpPr/>
          <p:nvPr/>
        </p:nvSpPr>
        <p:spPr>
          <a:xfrm>
            <a:off x="5865912"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5"/>
          <p:cNvSpPr txBox="1"/>
          <p:nvPr/>
        </p:nvSpPr>
        <p:spPr>
          <a:xfrm>
            <a:off x="6052575" y="421250"/>
            <a:ext cx="2897700" cy="37512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10">
                <a:solidFill>
                  <a:srgbClr val="F3EFE6"/>
                </a:solidFill>
                <a:latin typeface="Rubik"/>
                <a:ea typeface="Rubik"/>
                <a:cs typeface="Rubik"/>
                <a:sym typeface="Rubik"/>
              </a:rPr>
              <a:t>אבל מי היה רבין, האיש שלחץ את ידו של המלך חוסיין?</a:t>
            </a:r>
            <a:endParaRPr sz="181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1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10">
                <a:solidFill>
                  <a:srgbClr val="F3EFE6"/>
                </a:solidFill>
                <a:latin typeface="Rubik"/>
                <a:ea typeface="Rubik"/>
                <a:cs typeface="Rubik"/>
                <a:sym typeface="Rubik"/>
              </a:rPr>
              <a:t>איך הגיע מי שהיה מפקד צבא ורמטכ״ל להחלטה שצריך לנסות גם את דרך השלום?</a:t>
            </a:r>
            <a:endParaRPr sz="181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1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10">
                <a:solidFill>
                  <a:srgbClr val="F3EFE6"/>
                </a:solidFill>
                <a:latin typeface="Rubik"/>
                <a:ea typeface="Rubik"/>
                <a:cs typeface="Rubik"/>
                <a:sym typeface="Rubik"/>
              </a:rPr>
              <a:t>כדי להכיר אותו, נחזור אל יצחק הצעיר.</a:t>
            </a:r>
            <a:endParaRPr sz="1810">
              <a:solidFill>
                <a:srgbClr val="F3EFE6"/>
              </a:solidFill>
              <a:latin typeface="Rubik"/>
              <a:ea typeface="Rubik"/>
              <a:cs typeface="Rubik"/>
              <a:sym typeface="Rubik"/>
            </a:endParaRPr>
          </a:p>
        </p:txBody>
      </p:sp>
      <p:pic>
        <p:nvPicPr>
          <p:cNvPr id="149" name="Google Shape;149;p25"/>
          <p:cNvPicPr preferRelativeResize="0"/>
          <p:nvPr/>
        </p:nvPicPr>
        <p:blipFill rotWithShape="1">
          <a:blip r:embed="rId3">
            <a:alphaModFix/>
          </a:blip>
          <a:srcRect b="0" l="5607" r="8527" t="0"/>
          <a:stretch/>
        </p:blipFill>
        <p:spPr>
          <a:xfrm>
            <a:off x="3788" y="0"/>
            <a:ext cx="5854074" cy="5143501"/>
          </a:xfrm>
          <a:prstGeom prst="rect">
            <a:avLst/>
          </a:prstGeom>
          <a:noFill/>
          <a:ln>
            <a:noFill/>
          </a:ln>
        </p:spPr>
      </p:pic>
      <p:pic>
        <p:nvPicPr>
          <p:cNvPr id="150" name="Google Shape;150;p25"/>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54" name="Shape 154"/>
        <p:cNvGrpSpPr/>
        <p:nvPr/>
      </p:nvGrpSpPr>
      <p:grpSpPr>
        <a:xfrm>
          <a:off x="0" y="0"/>
          <a:ext cx="0" cy="0"/>
          <a:chOff x="0" y="0"/>
          <a:chExt cx="0" cy="0"/>
        </a:xfrm>
      </p:grpSpPr>
      <p:pic>
        <p:nvPicPr>
          <p:cNvPr id="155" name="Google Shape;155;p26"/>
          <p:cNvPicPr preferRelativeResize="0"/>
          <p:nvPr/>
        </p:nvPicPr>
        <p:blipFill rotWithShape="1">
          <a:blip r:embed="rId3">
            <a:alphaModFix/>
          </a:blip>
          <a:srcRect b="3443" l="3988" r="4537" t="1717"/>
          <a:stretch/>
        </p:blipFill>
        <p:spPr>
          <a:xfrm>
            <a:off x="0" y="274713"/>
            <a:ext cx="5891373" cy="4594073"/>
          </a:xfrm>
          <a:prstGeom prst="rect">
            <a:avLst/>
          </a:prstGeom>
          <a:noFill/>
          <a:ln>
            <a:noFill/>
          </a:ln>
        </p:spPr>
      </p:pic>
      <p:sp>
        <p:nvSpPr>
          <p:cNvPr id="156" name="Google Shape;156;p26"/>
          <p:cNvSpPr/>
          <p:nvPr/>
        </p:nvSpPr>
        <p:spPr>
          <a:xfrm>
            <a:off x="5912341"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6"/>
          <p:cNvSpPr txBox="1"/>
          <p:nvPr/>
        </p:nvSpPr>
        <p:spPr>
          <a:xfrm>
            <a:off x="6099175" y="472500"/>
            <a:ext cx="2867100" cy="3708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כנער למד יצחק רבין בבית הספר החקלאי כדורי. הוא אהב את האדמה ואת העבודה בשטח וחלם להיות מהנדס מים.</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הוא רצה להביא מים למקומות יבשים ולעזור לאדמה לפרוח.</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אבל לחיים היו תוכניות אחרות.</a:t>
            </a:r>
            <a:r>
              <a:rPr lang="en-GB" sz="1800">
                <a:solidFill>
                  <a:srgbClr val="F3EFE6"/>
                </a:solidFill>
                <a:latin typeface="Rubik"/>
                <a:ea typeface="Rubik"/>
                <a:cs typeface="Rubik"/>
                <a:sym typeface="Rubik"/>
              </a:rPr>
              <a:t> </a:t>
            </a:r>
            <a:endParaRPr sz="1800">
              <a:solidFill>
                <a:srgbClr val="F3EFE6"/>
              </a:solidFill>
              <a:latin typeface="Rubik"/>
              <a:ea typeface="Rubik"/>
              <a:cs typeface="Rubik"/>
              <a:sym typeface="Rubik"/>
            </a:endParaRPr>
          </a:p>
        </p:txBody>
      </p:sp>
      <p:pic>
        <p:nvPicPr>
          <p:cNvPr id="158" name="Google Shape;158;p26"/>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62" name="Shape 162"/>
        <p:cNvGrpSpPr/>
        <p:nvPr/>
      </p:nvGrpSpPr>
      <p:grpSpPr>
        <a:xfrm>
          <a:off x="0" y="0"/>
          <a:ext cx="0" cy="0"/>
          <a:chOff x="0" y="0"/>
          <a:chExt cx="0" cy="0"/>
        </a:xfrm>
      </p:grpSpPr>
      <p:pic>
        <p:nvPicPr>
          <p:cNvPr id="163" name="Google Shape;163;p27"/>
          <p:cNvPicPr preferRelativeResize="0"/>
          <p:nvPr/>
        </p:nvPicPr>
        <p:blipFill rotWithShape="1">
          <a:blip r:embed="rId3">
            <a:alphaModFix/>
          </a:blip>
          <a:srcRect b="0" l="11945" r="14504" t="0"/>
          <a:stretch/>
        </p:blipFill>
        <p:spPr>
          <a:xfrm>
            <a:off x="0" y="0"/>
            <a:ext cx="5905498" cy="5143501"/>
          </a:xfrm>
          <a:prstGeom prst="rect">
            <a:avLst/>
          </a:prstGeom>
          <a:noFill/>
          <a:ln>
            <a:noFill/>
          </a:ln>
        </p:spPr>
      </p:pic>
      <p:sp>
        <p:nvSpPr>
          <p:cNvPr id="164" name="Google Shape;164;p27"/>
          <p:cNvSpPr/>
          <p:nvPr/>
        </p:nvSpPr>
        <p:spPr>
          <a:xfrm>
            <a:off x="5905500"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7"/>
          <p:cNvSpPr txBox="1"/>
          <p:nvPr/>
        </p:nvSpPr>
        <p:spPr>
          <a:xfrm>
            <a:off x="6068075" y="414525"/>
            <a:ext cx="2894700" cy="3708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רבין היה לוחם בפלמ״ח, אחר כך מפקד, ולבסוף הרמטכ״ל של צה״ל. בשנת 1967 פיקד על הצבא במלחמת ששת הימים.</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זוכרים את הסבים של לי והיבא? הם נהרגו באותה מלחמה.</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רבין הכיר היטב את מחיר המלחמה: מאחורי כל החלטה עומדים בני אדם ומשפחות.</a:t>
            </a:r>
            <a:endParaRPr sz="1720">
              <a:solidFill>
                <a:srgbClr val="F3EFE6"/>
              </a:solidFill>
              <a:latin typeface="Rubik"/>
              <a:ea typeface="Rubik"/>
              <a:cs typeface="Rubik"/>
              <a:sym typeface="Rubik"/>
            </a:endParaRPr>
          </a:p>
        </p:txBody>
      </p:sp>
      <p:pic>
        <p:nvPicPr>
          <p:cNvPr id="166" name="Google Shape;166;p27"/>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2E30"/>
        </a:solidFill>
      </p:bgPr>
    </p:bg>
    <p:spTree>
      <p:nvGrpSpPr>
        <p:cNvPr id="170" name="Shape 170"/>
        <p:cNvGrpSpPr/>
        <p:nvPr/>
      </p:nvGrpSpPr>
      <p:grpSpPr>
        <a:xfrm>
          <a:off x="0" y="0"/>
          <a:ext cx="0" cy="0"/>
          <a:chOff x="0" y="0"/>
          <a:chExt cx="0" cy="0"/>
        </a:xfrm>
      </p:grpSpPr>
      <p:sp>
        <p:nvSpPr>
          <p:cNvPr id="171" name="Google Shape;171;p28"/>
          <p:cNvSpPr/>
          <p:nvPr/>
        </p:nvSpPr>
        <p:spPr>
          <a:xfrm>
            <a:off x="5609675" y="0"/>
            <a:ext cx="3534300" cy="5143500"/>
          </a:xfrm>
          <a:prstGeom prst="rect">
            <a:avLst/>
          </a:prstGeom>
          <a:solidFill>
            <a:srgbClr val="2E2E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8"/>
          <p:cNvSpPr txBox="1"/>
          <p:nvPr/>
        </p:nvSpPr>
        <p:spPr>
          <a:xfrm>
            <a:off x="5990401" y="512175"/>
            <a:ext cx="2999400" cy="37083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lang="en-GB" sz="1740">
                <a:solidFill>
                  <a:srgbClr val="FAF7F0"/>
                </a:solidFill>
                <a:latin typeface="Rubik"/>
                <a:ea typeface="Rubik"/>
                <a:cs typeface="Rubik"/>
                <a:sym typeface="Rubik"/>
              </a:rPr>
              <a:t>כששומעים את יצחק רבין נואם, קשה לפספס את קול הבס העמוק ואת פניו הרציניות. הוא לא היה מן המנהיגים שהרבו בחיוכים ובמחוות גדולות.</a:t>
            </a:r>
            <a:endParaRPr sz="1740">
              <a:solidFill>
                <a:srgbClr val="FAF7F0"/>
              </a:solidFill>
              <a:latin typeface="Rubik"/>
              <a:ea typeface="Rubik"/>
              <a:cs typeface="Rubik"/>
              <a:sym typeface="Rubik"/>
            </a:endParaRPr>
          </a:p>
          <a:p>
            <a:pPr indent="0" lvl="0" marL="0" rtl="1" algn="r">
              <a:lnSpc>
                <a:spcPct val="115000"/>
              </a:lnSpc>
              <a:spcBef>
                <a:spcPts val="1200"/>
              </a:spcBef>
              <a:spcAft>
                <a:spcPts val="0"/>
              </a:spcAft>
              <a:buClr>
                <a:schemeClr val="dk1"/>
              </a:buClr>
              <a:buSzPts val="1100"/>
              <a:buFont typeface="Arial"/>
              <a:buNone/>
            </a:pPr>
            <a:r>
              <a:rPr lang="en-GB" sz="1740">
                <a:solidFill>
                  <a:srgbClr val="FAF7F0"/>
                </a:solidFill>
                <a:latin typeface="Rubik"/>
                <a:ea typeface="Rubik"/>
                <a:cs typeface="Rubik"/>
                <a:sym typeface="Rubik"/>
              </a:rPr>
              <a:t>אבל מי שהכירו אותו מקרוב גילו גם צד אחר: אדם צנוע, לפעמים ביישן, עם חוש הומור, חום ואהבה גדולה למשפחתו.</a:t>
            </a:r>
            <a:endParaRPr sz="1740">
              <a:solidFill>
                <a:srgbClr val="FAF7F0"/>
              </a:solidFill>
              <a:latin typeface="Rubik"/>
              <a:ea typeface="Rubik"/>
              <a:cs typeface="Rubik"/>
              <a:sym typeface="Rubik"/>
            </a:endParaRPr>
          </a:p>
          <a:p>
            <a:pPr indent="0" lvl="0" marL="0" rtl="1" algn="r">
              <a:lnSpc>
                <a:spcPct val="115000"/>
              </a:lnSpc>
              <a:spcBef>
                <a:spcPts val="1200"/>
              </a:spcBef>
              <a:spcAft>
                <a:spcPts val="0"/>
              </a:spcAft>
              <a:buNone/>
            </a:pPr>
            <a:r>
              <a:t/>
            </a:r>
            <a:endParaRPr sz="1740">
              <a:solidFill>
                <a:srgbClr val="FAF7F0"/>
              </a:solidFill>
              <a:latin typeface="Rubik"/>
              <a:ea typeface="Rubik"/>
              <a:cs typeface="Rubik"/>
              <a:sym typeface="Rubik"/>
            </a:endParaRPr>
          </a:p>
          <a:p>
            <a:pPr indent="0" lvl="0" marL="0" rtl="1" algn="r">
              <a:lnSpc>
                <a:spcPct val="115000"/>
              </a:lnSpc>
              <a:spcBef>
                <a:spcPts val="0"/>
              </a:spcBef>
              <a:spcAft>
                <a:spcPts val="0"/>
              </a:spcAft>
              <a:buNone/>
            </a:pPr>
            <a:r>
              <a:t/>
            </a:r>
            <a:endParaRPr sz="1740">
              <a:solidFill>
                <a:srgbClr val="FAF7F0"/>
              </a:solidFill>
              <a:latin typeface="Rubik"/>
              <a:ea typeface="Rubik"/>
              <a:cs typeface="Rubik"/>
              <a:sym typeface="Rubik"/>
            </a:endParaRPr>
          </a:p>
          <a:p>
            <a:pPr indent="0" lvl="0" marL="0" rtl="1" algn="r">
              <a:lnSpc>
                <a:spcPct val="115000"/>
              </a:lnSpc>
              <a:spcBef>
                <a:spcPts val="0"/>
              </a:spcBef>
              <a:spcAft>
                <a:spcPts val="0"/>
              </a:spcAft>
              <a:buNone/>
            </a:pPr>
            <a:r>
              <a:t/>
            </a:r>
            <a:endParaRPr sz="1740">
              <a:solidFill>
                <a:srgbClr val="FAF7F0"/>
              </a:solidFill>
              <a:latin typeface="Rubik"/>
              <a:ea typeface="Rubik"/>
              <a:cs typeface="Rubik"/>
              <a:sym typeface="Rubik"/>
            </a:endParaRPr>
          </a:p>
        </p:txBody>
      </p:sp>
      <p:sp>
        <p:nvSpPr>
          <p:cNvPr id="173" name="Google Shape;173;p28"/>
          <p:cNvSpPr txBox="1"/>
          <p:nvPr/>
        </p:nvSpPr>
        <p:spPr>
          <a:xfrm>
            <a:off x="190550" y="4758400"/>
            <a:ext cx="5118000" cy="295200"/>
          </a:xfrm>
          <a:prstGeom prst="rect">
            <a:avLst/>
          </a:prstGeom>
          <a:noFill/>
          <a:ln>
            <a:noFill/>
          </a:ln>
        </p:spPr>
        <p:txBody>
          <a:bodyPr anchorCtr="0" anchor="t" bIns="91425" lIns="91425" spcFirstLastPara="1" rIns="91425" wrap="square" tIns="91425">
            <a:noAutofit/>
          </a:bodyPr>
          <a:lstStyle/>
          <a:p>
            <a:pPr indent="0" lvl="0" marL="0" rtl="1" algn="l">
              <a:spcBef>
                <a:spcPts val="0"/>
              </a:spcBef>
              <a:spcAft>
                <a:spcPts val="0"/>
              </a:spcAft>
              <a:buNone/>
            </a:pPr>
            <a:r>
              <a:rPr lang="en-GB" sz="950">
                <a:solidFill>
                  <a:schemeClr val="lt1"/>
                </a:solidFill>
              </a:rPr>
              <a:t>רבין עם נכדו ביריד שבוע הספר, תל אביב, 1984</a:t>
            </a:r>
            <a:endParaRPr sz="950">
              <a:solidFill>
                <a:schemeClr val="lt1"/>
              </a:solidFill>
            </a:endParaRPr>
          </a:p>
        </p:txBody>
      </p:sp>
      <p:pic>
        <p:nvPicPr>
          <p:cNvPr id="174" name="Google Shape;174;p28"/>
          <p:cNvPicPr preferRelativeResize="0"/>
          <p:nvPr/>
        </p:nvPicPr>
        <p:blipFill rotWithShape="1">
          <a:blip r:embed="rId3">
            <a:alphaModFix/>
          </a:blip>
          <a:srcRect b="0" l="15156" r="4697" t="0"/>
          <a:stretch/>
        </p:blipFill>
        <p:spPr>
          <a:xfrm>
            <a:off x="0" y="160689"/>
            <a:ext cx="5888175" cy="4621011"/>
          </a:xfrm>
          <a:prstGeom prst="rect">
            <a:avLst/>
          </a:prstGeom>
          <a:noFill/>
          <a:ln>
            <a:noFill/>
          </a:ln>
        </p:spPr>
      </p:pic>
      <p:sp>
        <p:nvSpPr>
          <p:cNvPr id="175" name="Google Shape;175;p28"/>
          <p:cNvSpPr/>
          <p:nvPr/>
        </p:nvSpPr>
        <p:spPr>
          <a:xfrm>
            <a:off x="5888177"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79" name="Shape 179"/>
        <p:cNvGrpSpPr/>
        <p:nvPr/>
      </p:nvGrpSpPr>
      <p:grpSpPr>
        <a:xfrm>
          <a:off x="0" y="0"/>
          <a:ext cx="0" cy="0"/>
          <a:chOff x="0" y="0"/>
          <a:chExt cx="0" cy="0"/>
        </a:xfrm>
      </p:grpSpPr>
      <p:pic>
        <p:nvPicPr>
          <p:cNvPr id="180" name="Google Shape;180;p29"/>
          <p:cNvPicPr preferRelativeResize="0"/>
          <p:nvPr/>
        </p:nvPicPr>
        <p:blipFill>
          <a:blip r:embed="rId3">
            <a:alphaModFix/>
          </a:blip>
          <a:stretch>
            <a:fillRect/>
          </a:stretch>
        </p:blipFill>
        <p:spPr>
          <a:xfrm>
            <a:off x="-1092200" y="2117"/>
            <a:ext cx="7747000" cy="5164667"/>
          </a:xfrm>
          <a:prstGeom prst="rect">
            <a:avLst/>
          </a:prstGeom>
          <a:noFill/>
          <a:ln>
            <a:noFill/>
          </a:ln>
        </p:spPr>
      </p:pic>
      <p:sp>
        <p:nvSpPr>
          <p:cNvPr id="181" name="Google Shape;181;p29"/>
          <p:cNvSpPr/>
          <p:nvPr/>
        </p:nvSpPr>
        <p:spPr>
          <a:xfrm>
            <a:off x="5600700" y="0"/>
            <a:ext cx="3543300" cy="5143500"/>
          </a:xfrm>
          <a:prstGeom prst="rect">
            <a:avLst/>
          </a:prstGeom>
          <a:solidFill>
            <a:srgbClr val="1027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9"/>
          <p:cNvSpPr/>
          <p:nvPr/>
        </p:nvSpPr>
        <p:spPr>
          <a:xfrm>
            <a:off x="5600700"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9"/>
          <p:cNvSpPr txBox="1"/>
          <p:nvPr/>
        </p:nvSpPr>
        <p:spPr>
          <a:xfrm>
            <a:off x="5858300" y="479300"/>
            <a:ext cx="3031800" cy="3708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השנים חלפו. ב־1992 נבחר רבין שוב לראש ממשלת ישראל.</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הוא לא הפסיק לדאוג לביטחון המדינה. אבל הוא האמין שלפעמים, כדי לשמור על העתיד, צריך לא רק לדעת להילחם — אלא גם להעז לדבר עם אויבים.</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הוא בחר לנסות.</a:t>
            </a:r>
            <a:endParaRPr sz="1820">
              <a:solidFill>
                <a:srgbClr val="F3EFE6"/>
              </a:solidFill>
              <a:latin typeface="Rubik"/>
              <a:ea typeface="Rubik"/>
              <a:cs typeface="Rubik"/>
              <a:sym typeface="Rubik"/>
            </a:endParaRPr>
          </a:p>
        </p:txBody>
      </p:sp>
      <p:pic>
        <p:nvPicPr>
          <p:cNvPr id="184" name="Google Shape;184;p29"/>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88" name="Shape 188"/>
        <p:cNvGrpSpPr/>
        <p:nvPr/>
      </p:nvGrpSpPr>
      <p:grpSpPr>
        <a:xfrm>
          <a:off x="0" y="0"/>
          <a:ext cx="0" cy="0"/>
          <a:chOff x="0" y="0"/>
          <a:chExt cx="0" cy="0"/>
        </a:xfrm>
      </p:grpSpPr>
      <p:sp>
        <p:nvSpPr>
          <p:cNvPr id="189" name="Google Shape;189;p30"/>
          <p:cNvSpPr/>
          <p:nvPr/>
        </p:nvSpPr>
        <p:spPr>
          <a:xfrm>
            <a:off x="5422000"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30"/>
          <p:cNvSpPr txBox="1"/>
          <p:nvPr/>
        </p:nvSpPr>
        <p:spPr>
          <a:xfrm>
            <a:off x="5604100" y="292825"/>
            <a:ext cx="3348300" cy="41670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אחד הצעדים האמיצים היה הניסיון להגיע להסכם עם הפלסטינים.</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נציגים ישראלים ונציגי אש״ף, הארגון שבראשו עמד יאסר ערפאת, נפגשו לשיחות חשאיות בנורווגיה.</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20">
                <a:solidFill>
                  <a:srgbClr val="F3EFE6"/>
                </a:solidFill>
                <a:latin typeface="Rubik"/>
                <a:ea typeface="Rubik"/>
                <a:cs typeface="Rubik"/>
                <a:sym typeface="Rubik"/>
              </a:rPr>
              <a:t>בעידודו של רבין ובהובלת שר החוץ שמעון פרס נוצרו ההבנות שנקראו ״הסכמי אוסלו״.</a:t>
            </a:r>
            <a:endParaRPr sz="1820">
              <a:solidFill>
                <a:srgbClr val="F3EFE6"/>
              </a:solidFill>
              <a:latin typeface="Rubik"/>
              <a:ea typeface="Rubik"/>
              <a:cs typeface="Rubik"/>
              <a:sym typeface="Rubik"/>
            </a:endParaRPr>
          </a:p>
        </p:txBody>
      </p:sp>
      <p:pic>
        <p:nvPicPr>
          <p:cNvPr id="191" name="Google Shape;191;p30"/>
          <p:cNvPicPr preferRelativeResize="0"/>
          <p:nvPr/>
        </p:nvPicPr>
        <p:blipFill rotWithShape="1">
          <a:blip r:embed="rId3">
            <a:alphaModFix/>
          </a:blip>
          <a:srcRect b="0" l="7569" r="24302" t="0"/>
          <a:stretch/>
        </p:blipFill>
        <p:spPr>
          <a:xfrm>
            <a:off x="0" y="758225"/>
            <a:ext cx="5314425" cy="4385275"/>
          </a:xfrm>
          <a:prstGeom prst="rect">
            <a:avLst/>
          </a:prstGeom>
          <a:noFill/>
          <a:ln>
            <a:noFill/>
          </a:ln>
        </p:spPr>
      </p:pic>
      <p:pic>
        <p:nvPicPr>
          <p:cNvPr id="192" name="Google Shape;192;p30"/>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196" name="Shape 196"/>
        <p:cNvGrpSpPr/>
        <p:nvPr/>
      </p:nvGrpSpPr>
      <p:grpSpPr>
        <a:xfrm>
          <a:off x="0" y="0"/>
          <a:ext cx="0" cy="0"/>
          <a:chOff x="0" y="0"/>
          <a:chExt cx="0" cy="0"/>
        </a:xfrm>
      </p:grpSpPr>
      <p:pic>
        <p:nvPicPr>
          <p:cNvPr id="197" name="Google Shape;197;p31"/>
          <p:cNvPicPr preferRelativeResize="0"/>
          <p:nvPr/>
        </p:nvPicPr>
        <p:blipFill rotWithShape="1">
          <a:blip r:embed="rId3">
            <a:alphaModFix/>
          </a:blip>
          <a:srcRect b="0" l="12293" r="13605" t="0"/>
          <a:stretch/>
        </p:blipFill>
        <p:spPr>
          <a:xfrm>
            <a:off x="0" y="-10575"/>
            <a:ext cx="5740400" cy="5164650"/>
          </a:xfrm>
          <a:prstGeom prst="rect">
            <a:avLst/>
          </a:prstGeom>
          <a:noFill/>
          <a:ln>
            <a:noFill/>
          </a:ln>
        </p:spPr>
      </p:pic>
      <p:sp>
        <p:nvSpPr>
          <p:cNvPr id="198" name="Google Shape;198;p31"/>
          <p:cNvSpPr/>
          <p:nvPr/>
        </p:nvSpPr>
        <p:spPr>
          <a:xfrm>
            <a:off x="5725014"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31"/>
          <p:cNvSpPr txBox="1"/>
          <p:nvPr/>
        </p:nvSpPr>
        <p:spPr>
          <a:xfrm>
            <a:off x="5841000" y="336925"/>
            <a:ext cx="3062700" cy="39105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בספטמבר 1993 נראתה בבית הלבן לחיצת יד שרבים לא האמינו שתתרחש: רבין ויאסר ערפאת, שעמד בראש ארגון שנלחם בישראל, לחצו ידיים.</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ההסכם לא סיים את הסכסוך, אבל פתח אפשרות למשא ומתן ולהכרה הדדית.</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2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20">
                <a:solidFill>
                  <a:srgbClr val="F3EFE6"/>
                </a:solidFill>
                <a:latin typeface="Rubik"/>
                <a:ea typeface="Rubik"/>
                <a:cs typeface="Rubik"/>
                <a:sym typeface="Rubik"/>
              </a:rPr>
              <a:t>יש שהתמלאו תקווה. אחרים חששו מאוד.</a:t>
            </a:r>
            <a:endParaRPr sz="1720">
              <a:solidFill>
                <a:srgbClr val="F3EFE6"/>
              </a:solidFill>
              <a:latin typeface="Rubik"/>
              <a:ea typeface="Rubik"/>
              <a:cs typeface="Rubik"/>
              <a:sym typeface="Rubik"/>
            </a:endParaRPr>
          </a:p>
        </p:txBody>
      </p:sp>
      <p:pic>
        <p:nvPicPr>
          <p:cNvPr id="200" name="Google Shape;200;p31"/>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04" name="Shape 204"/>
        <p:cNvGrpSpPr/>
        <p:nvPr/>
      </p:nvGrpSpPr>
      <p:grpSpPr>
        <a:xfrm>
          <a:off x="0" y="0"/>
          <a:ext cx="0" cy="0"/>
          <a:chOff x="0" y="0"/>
          <a:chExt cx="0" cy="0"/>
        </a:xfrm>
      </p:grpSpPr>
      <p:sp>
        <p:nvSpPr>
          <p:cNvPr id="205" name="Google Shape;205;p32"/>
          <p:cNvSpPr/>
          <p:nvPr/>
        </p:nvSpPr>
        <p:spPr>
          <a:xfrm>
            <a:off x="6115587"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32"/>
          <p:cNvSpPr txBox="1"/>
          <p:nvPr/>
        </p:nvSpPr>
        <p:spPr>
          <a:xfrm>
            <a:off x="6317075" y="320350"/>
            <a:ext cx="2652600" cy="35256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50">
                <a:solidFill>
                  <a:srgbClr val="F3EFE6"/>
                </a:solidFill>
                <a:latin typeface="Rubik"/>
                <a:ea typeface="Rubik"/>
                <a:cs typeface="Rubik"/>
                <a:sym typeface="Rubik"/>
              </a:rPr>
              <a:t>בשנת 1994 קיבלו רבין, שמעון פרס ויאסר ערפאת את פרס נובל לשלום על מאמציהם לקדם שלום בין ישראלים לפלסטינים.</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50">
                <a:solidFill>
                  <a:srgbClr val="F3EFE6"/>
                </a:solidFill>
                <a:latin typeface="Rubik"/>
                <a:ea typeface="Rubik"/>
                <a:cs typeface="Rubik"/>
                <a:sym typeface="Rubik"/>
              </a:rPr>
              <a:t>הפרס לא סימן את סוף הסכסוך, אלא הכרה בניסיון האמיץ לפתוח דרך חדשה.</a:t>
            </a:r>
            <a:endParaRPr sz="1850">
              <a:solidFill>
                <a:srgbClr val="F3EFE6"/>
              </a:solidFill>
              <a:latin typeface="Rubik"/>
              <a:ea typeface="Rubik"/>
              <a:cs typeface="Rubik"/>
              <a:sym typeface="Rubik"/>
            </a:endParaRPr>
          </a:p>
        </p:txBody>
      </p:sp>
      <p:pic>
        <p:nvPicPr>
          <p:cNvPr id="207" name="Google Shape;207;p32"/>
          <p:cNvPicPr preferRelativeResize="0"/>
          <p:nvPr/>
        </p:nvPicPr>
        <p:blipFill rotWithShape="1">
          <a:blip r:embed="rId3">
            <a:alphaModFix/>
          </a:blip>
          <a:srcRect b="0" l="4673" r="4764" t="0"/>
          <a:stretch/>
        </p:blipFill>
        <p:spPr>
          <a:xfrm>
            <a:off x="0" y="263363"/>
            <a:ext cx="6115576" cy="4501888"/>
          </a:xfrm>
          <a:prstGeom prst="rect">
            <a:avLst/>
          </a:prstGeom>
          <a:noFill/>
          <a:ln>
            <a:noFill/>
          </a:ln>
        </p:spPr>
      </p:pic>
      <p:pic>
        <p:nvPicPr>
          <p:cNvPr id="208" name="Google Shape;208;p32"/>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12" name="Shape 212"/>
        <p:cNvGrpSpPr/>
        <p:nvPr/>
      </p:nvGrpSpPr>
      <p:grpSpPr>
        <a:xfrm>
          <a:off x="0" y="0"/>
          <a:ext cx="0" cy="0"/>
          <a:chOff x="0" y="0"/>
          <a:chExt cx="0" cy="0"/>
        </a:xfrm>
      </p:grpSpPr>
      <p:pic>
        <p:nvPicPr>
          <p:cNvPr id="213" name="Google Shape;213;p33"/>
          <p:cNvPicPr preferRelativeResize="0"/>
          <p:nvPr/>
        </p:nvPicPr>
        <p:blipFill rotWithShape="1">
          <a:blip r:embed="rId3">
            <a:alphaModFix/>
          </a:blip>
          <a:srcRect b="0" l="10613" r="10423" t="0"/>
          <a:stretch/>
        </p:blipFill>
        <p:spPr>
          <a:xfrm>
            <a:off x="0" y="0"/>
            <a:ext cx="6092249" cy="5143500"/>
          </a:xfrm>
          <a:prstGeom prst="rect">
            <a:avLst/>
          </a:prstGeom>
          <a:noFill/>
          <a:ln>
            <a:noFill/>
          </a:ln>
        </p:spPr>
      </p:pic>
      <p:sp>
        <p:nvSpPr>
          <p:cNvPr id="214" name="Google Shape;214;p33"/>
          <p:cNvSpPr/>
          <p:nvPr/>
        </p:nvSpPr>
        <p:spPr>
          <a:xfrm>
            <a:off x="6064342"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3"/>
          <p:cNvSpPr txBox="1"/>
          <p:nvPr/>
        </p:nvSpPr>
        <p:spPr>
          <a:xfrm>
            <a:off x="6222900" y="204450"/>
            <a:ext cx="2746800" cy="41133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750">
                <a:solidFill>
                  <a:srgbClr val="F3EFE6"/>
                </a:solidFill>
                <a:latin typeface="Rubik"/>
                <a:ea typeface="Rubik"/>
                <a:cs typeface="Rubik"/>
                <a:sym typeface="Rubik"/>
              </a:rPr>
              <a:t>הדרך הזאת עוררה ויכוח קשה בישראל. היו שתמכו בה בהתלהבות, והיו שהתנגדו לה וחששו מתוצאותיה.</a:t>
            </a:r>
            <a:endParaRPr sz="17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50">
                <a:solidFill>
                  <a:srgbClr val="F3EFE6"/>
                </a:solidFill>
                <a:latin typeface="Rubik"/>
                <a:ea typeface="Rubik"/>
                <a:cs typeface="Rubik"/>
                <a:sym typeface="Rubik"/>
              </a:rPr>
              <a:t>ב־4 בנובמבר 1995 השתתף רבין בעצרת שנקראה ״כן לשלום, לא לאלימות״.</a:t>
            </a:r>
            <a:endParaRPr sz="17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750">
                <a:solidFill>
                  <a:srgbClr val="F3EFE6"/>
                </a:solidFill>
                <a:latin typeface="Rubik"/>
                <a:ea typeface="Rubik"/>
                <a:cs typeface="Rubik"/>
                <a:sym typeface="Rubik"/>
              </a:rPr>
              <a:t>בסוף העצרת נרצח בידי יגאל עמיר, שהתנגד לדרכו.</a:t>
            </a:r>
            <a:endParaRPr sz="175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750">
              <a:solidFill>
                <a:srgbClr val="F3EFE6"/>
              </a:solidFill>
              <a:latin typeface="Rubik"/>
              <a:ea typeface="Rubik"/>
              <a:cs typeface="Rubik"/>
              <a:sym typeface="Rubik"/>
            </a:endParaRPr>
          </a:p>
        </p:txBody>
      </p:sp>
      <p:pic>
        <p:nvPicPr>
          <p:cNvPr id="216" name="Google Shape;216;p33"/>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20" name="Shape 220"/>
        <p:cNvGrpSpPr/>
        <p:nvPr/>
      </p:nvGrpSpPr>
      <p:grpSpPr>
        <a:xfrm>
          <a:off x="0" y="0"/>
          <a:ext cx="0" cy="0"/>
          <a:chOff x="0" y="0"/>
          <a:chExt cx="0" cy="0"/>
        </a:xfrm>
      </p:grpSpPr>
      <p:pic>
        <p:nvPicPr>
          <p:cNvPr id="221" name="Google Shape;221;p34">
            <a:hlinkClick r:id="rId3"/>
          </p:cNvPr>
          <p:cNvPicPr preferRelativeResize="0"/>
          <p:nvPr/>
        </p:nvPicPr>
        <p:blipFill>
          <a:blip r:embed="rId4">
            <a:alphaModFix/>
          </a:blip>
          <a:stretch>
            <a:fillRect/>
          </a:stretch>
        </p:blipFill>
        <p:spPr>
          <a:xfrm>
            <a:off x="1230562" y="692000"/>
            <a:ext cx="6682876" cy="3759500"/>
          </a:xfrm>
          <a:prstGeom prst="rect">
            <a:avLst/>
          </a:prstGeom>
          <a:noFill/>
          <a:ln>
            <a:noFill/>
          </a:ln>
        </p:spPr>
      </p:pic>
      <p:pic>
        <p:nvPicPr>
          <p:cNvPr id="222" name="Google Shape;222;p34"/>
          <p:cNvPicPr preferRelativeResize="0"/>
          <p:nvPr/>
        </p:nvPicPr>
        <p:blipFill>
          <a:blip r:embed="rId5">
            <a:alphaModFix/>
          </a:blip>
          <a:stretch>
            <a:fillRect/>
          </a:stretch>
        </p:blipFill>
        <p:spPr>
          <a:xfrm>
            <a:off x="7932800" y="4642125"/>
            <a:ext cx="1167300" cy="40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26" name="Shape 226"/>
        <p:cNvGrpSpPr/>
        <p:nvPr/>
      </p:nvGrpSpPr>
      <p:grpSpPr>
        <a:xfrm>
          <a:off x="0" y="0"/>
          <a:ext cx="0" cy="0"/>
          <a:chOff x="0" y="0"/>
          <a:chExt cx="0" cy="0"/>
        </a:xfrm>
      </p:grpSpPr>
      <p:pic>
        <p:nvPicPr>
          <p:cNvPr id="227" name="Google Shape;227;p35"/>
          <p:cNvPicPr preferRelativeResize="0"/>
          <p:nvPr/>
        </p:nvPicPr>
        <p:blipFill rotWithShape="1">
          <a:blip r:embed="rId3">
            <a:alphaModFix/>
          </a:blip>
          <a:srcRect b="0" l="5962" r="17115" t="0"/>
          <a:stretch/>
        </p:blipFill>
        <p:spPr>
          <a:xfrm>
            <a:off x="0" y="-10575"/>
            <a:ext cx="5959304" cy="5164652"/>
          </a:xfrm>
          <a:prstGeom prst="rect">
            <a:avLst/>
          </a:prstGeom>
          <a:noFill/>
          <a:ln>
            <a:noFill/>
          </a:ln>
        </p:spPr>
      </p:pic>
      <p:sp>
        <p:nvSpPr>
          <p:cNvPr id="228" name="Google Shape;228;p35"/>
          <p:cNvSpPr/>
          <p:nvPr/>
        </p:nvSpPr>
        <p:spPr>
          <a:xfrm>
            <a:off x="5974668"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35"/>
          <p:cNvSpPr txBox="1"/>
          <p:nvPr/>
        </p:nvSpPr>
        <p:spPr>
          <a:xfrm>
            <a:off x="6107575" y="370000"/>
            <a:ext cx="2855700" cy="3359400"/>
          </a:xfrm>
          <a:prstGeom prst="rect">
            <a:avLst/>
          </a:prstGeom>
          <a:noFill/>
          <a:ln>
            <a:noFill/>
          </a:ln>
        </p:spPr>
        <p:txBody>
          <a:bodyPr anchorCtr="0" anchor="t" bIns="91425" lIns="91425" spcFirstLastPara="1" rIns="91425" wrap="square" tIns="91425">
            <a:noAutofit/>
          </a:bodyPr>
          <a:lstStyle/>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להלוויית רבין הגיע גם המלך חוסיין מירדן.</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רק שנה קודם חתמו השניים על שלום. עכשיו נפרד המלך בכאב ממי שהפך גם לחברו.</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rPr lang="en-GB" sz="1800">
                <a:solidFill>
                  <a:srgbClr val="F3EFE6"/>
                </a:solidFill>
                <a:latin typeface="Rubik"/>
                <a:ea typeface="Rubik"/>
                <a:cs typeface="Rubik"/>
                <a:sym typeface="Rubik"/>
              </a:rPr>
              <a:t>שלום מחבר לא רק מדינות, אלא גם אנשים.</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a:p>
            <a:pPr indent="0" lvl="0" marL="0" rtl="1" algn="r">
              <a:lnSpc>
                <a:spcPct val="121000"/>
              </a:lnSpc>
              <a:spcBef>
                <a:spcPts val="0"/>
              </a:spcBef>
              <a:spcAft>
                <a:spcPts val="0"/>
              </a:spcAft>
              <a:buNone/>
            </a:pPr>
            <a:r>
              <a:t/>
            </a:r>
            <a:endParaRPr sz="1800">
              <a:solidFill>
                <a:srgbClr val="F3EFE6"/>
              </a:solidFill>
              <a:latin typeface="Rubik"/>
              <a:ea typeface="Rubik"/>
              <a:cs typeface="Rubik"/>
              <a:sym typeface="Rubik"/>
            </a:endParaRPr>
          </a:p>
        </p:txBody>
      </p:sp>
      <p:pic>
        <p:nvPicPr>
          <p:cNvPr id="230" name="Google Shape;230;p35"/>
          <p:cNvPicPr preferRelativeResize="0"/>
          <p:nvPr/>
        </p:nvPicPr>
        <p:blipFill>
          <a:blip r:embed="rId4">
            <a:alphaModFix/>
          </a:blip>
          <a:stretch>
            <a:fillRect/>
          </a:stretch>
        </p:blipFill>
        <p:spPr>
          <a:xfrm>
            <a:off x="7932800" y="4642125"/>
            <a:ext cx="1167300" cy="407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34" name="Shape 234"/>
        <p:cNvGrpSpPr/>
        <p:nvPr/>
      </p:nvGrpSpPr>
      <p:grpSpPr>
        <a:xfrm>
          <a:off x="0" y="0"/>
          <a:ext cx="0" cy="0"/>
          <a:chOff x="0" y="0"/>
          <a:chExt cx="0" cy="0"/>
        </a:xfrm>
      </p:grpSpPr>
      <p:sp>
        <p:nvSpPr>
          <p:cNvPr id="235" name="Google Shape;235;p36"/>
          <p:cNvSpPr/>
          <p:nvPr/>
        </p:nvSpPr>
        <p:spPr>
          <a:xfrm>
            <a:off x="5197425"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6"/>
          <p:cNvSpPr txBox="1"/>
          <p:nvPr/>
        </p:nvSpPr>
        <p:spPr>
          <a:xfrm>
            <a:off x="5511800" y="238000"/>
            <a:ext cx="3425400" cy="35379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lang="en-GB" sz="1780">
                <a:solidFill>
                  <a:srgbClr val="F3EFE6"/>
                </a:solidFill>
                <a:latin typeface="Rubik"/>
                <a:ea typeface="Rubik"/>
                <a:cs typeface="Rubik"/>
                <a:sym typeface="Rubik"/>
              </a:rPr>
              <a:t>לא כולם הסכימו עם דרכו של רבין. היו שראו בה סיכוי לשלום, ואחרים חששו ממנה מאוד.</a:t>
            </a:r>
            <a:endParaRPr sz="1780">
              <a:solidFill>
                <a:srgbClr val="F3EFE6"/>
              </a:solidFill>
              <a:latin typeface="Rubik"/>
              <a:ea typeface="Rubik"/>
              <a:cs typeface="Rubik"/>
              <a:sym typeface="Rubik"/>
            </a:endParaRPr>
          </a:p>
          <a:p>
            <a:pPr indent="0" lvl="0" marL="0" rtl="1" algn="r">
              <a:lnSpc>
                <a:spcPct val="115000"/>
              </a:lnSpc>
              <a:spcBef>
                <a:spcPts val="1200"/>
              </a:spcBef>
              <a:spcAft>
                <a:spcPts val="0"/>
              </a:spcAft>
              <a:buNone/>
            </a:pPr>
            <a:r>
              <a:rPr lang="en-GB" sz="1780">
                <a:solidFill>
                  <a:srgbClr val="F3EFE6"/>
                </a:solidFill>
                <a:latin typeface="Rubik"/>
                <a:ea typeface="Rubik"/>
                <a:cs typeface="Rubik"/>
                <a:sym typeface="Rubik"/>
              </a:rPr>
              <a:t>בדמוקרטיה מותר להתווכח, למחות ולהתנגד גם בחריפות.</a:t>
            </a:r>
            <a:endParaRPr sz="1780">
              <a:solidFill>
                <a:srgbClr val="F3EFE6"/>
              </a:solidFill>
              <a:latin typeface="Rubik"/>
              <a:ea typeface="Rubik"/>
              <a:cs typeface="Rubik"/>
              <a:sym typeface="Rubik"/>
            </a:endParaRPr>
          </a:p>
          <a:p>
            <a:pPr indent="0" lvl="0" marL="0" rtl="1" algn="r">
              <a:lnSpc>
                <a:spcPct val="115000"/>
              </a:lnSpc>
              <a:spcBef>
                <a:spcPts val="1200"/>
              </a:spcBef>
              <a:spcAft>
                <a:spcPts val="0"/>
              </a:spcAft>
              <a:buNone/>
            </a:pPr>
            <a:r>
              <a:rPr lang="en-GB" sz="1780">
                <a:solidFill>
                  <a:srgbClr val="F3EFE6"/>
                </a:solidFill>
                <a:latin typeface="Rubik"/>
                <a:ea typeface="Rubik"/>
                <a:cs typeface="Rubik"/>
                <a:sym typeface="Rubik"/>
              </a:rPr>
              <a:t>אבל מחלוקת אינה רשות לאיים, להסית או לפגוע.</a:t>
            </a:r>
            <a:endParaRPr sz="1780">
              <a:solidFill>
                <a:srgbClr val="F3EFE6"/>
              </a:solidFill>
              <a:latin typeface="Rubik"/>
              <a:ea typeface="Rubik"/>
              <a:cs typeface="Rubik"/>
              <a:sym typeface="Rubik"/>
            </a:endParaRPr>
          </a:p>
          <a:p>
            <a:pPr indent="0" lvl="0" marL="0" rtl="1" algn="r">
              <a:lnSpc>
                <a:spcPct val="115000"/>
              </a:lnSpc>
              <a:spcBef>
                <a:spcPts val="1200"/>
              </a:spcBef>
              <a:spcAft>
                <a:spcPts val="0"/>
              </a:spcAft>
              <a:buNone/>
            </a:pPr>
            <a:r>
              <a:t/>
            </a:r>
            <a:endParaRPr sz="1780">
              <a:solidFill>
                <a:srgbClr val="F3EFE6"/>
              </a:solidFill>
              <a:latin typeface="Rubik"/>
              <a:ea typeface="Rubik"/>
              <a:cs typeface="Rubik"/>
              <a:sym typeface="Rubik"/>
            </a:endParaRPr>
          </a:p>
          <a:p>
            <a:pPr indent="0" lvl="0" marL="0" rtl="1" algn="r">
              <a:lnSpc>
                <a:spcPct val="115000"/>
              </a:lnSpc>
              <a:spcBef>
                <a:spcPts val="1200"/>
              </a:spcBef>
              <a:spcAft>
                <a:spcPts val="0"/>
              </a:spcAft>
              <a:buClr>
                <a:schemeClr val="dk1"/>
              </a:buClr>
              <a:buSzPts val="1100"/>
              <a:buFont typeface="Arial"/>
              <a:buNone/>
            </a:pPr>
            <a:r>
              <a:t/>
            </a:r>
            <a:endParaRPr sz="1780">
              <a:solidFill>
                <a:srgbClr val="F3EFE6"/>
              </a:solidFill>
              <a:latin typeface="Rubik"/>
              <a:ea typeface="Rubik"/>
              <a:cs typeface="Rubik"/>
              <a:sym typeface="Rubik"/>
            </a:endParaRPr>
          </a:p>
          <a:p>
            <a:pPr indent="0" lvl="0" marL="0" rtl="1" algn="r">
              <a:lnSpc>
                <a:spcPct val="121000"/>
              </a:lnSpc>
              <a:spcBef>
                <a:spcPts val="1200"/>
              </a:spcBef>
              <a:spcAft>
                <a:spcPts val="0"/>
              </a:spcAft>
              <a:buNone/>
            </a:pPr>
            <a:r>
              <a:t/>
            </a:r>
            <a:endParaRPr sz="1780">
              <a:solidFill>
                <a:srgbClr val="F3EFE6"/>
              </a:solidFill>
              <a:latin typeface="Rubik"/>
              <a:ea typeface="Rubik"/>
              <a:cs typeface="Rubik"/>
              <a:sym typeface="Rubik"/>
            </a:endParaRPr>
          </a:p>
        </p:txBody>
      </p:sp>
      <p:pic>
        <p:nvPicPr>
          <p:cNvPr id="237" name="Google Shape;237;p36"/>
          <p:cNvPicPr preferRelativeResize="0"/>
          <p:nvPr/>
        </p:nvPicPr>
        <p:blipFill>
          <a:blip r:embed="rId3">
            <a:alphaModFix/>
          </a:blip>
          <a:stretch>
            <a:fillRect/>
          </a:stretch>
        </p:blipFill>
        <p:spPr>
          <a:xfrm>
            <a:off x="7932800" y="4642125"/>
            <a:ext cx="1167300" cy="407700"/>
          </a:xfrm>
          <a:prstGeom prst="rect">
            <a:avLst/>
          </a:prstGeom>
          <a:noFill/>
          <a:ln>
            <a:noFill/>
          </a:ln>
        </p:spPr>
      </p:pic>
      <p:pic>
        <p:nvPicPr>
          <p:cNvPr id="238" name="Google Shape;238;p36"/>
          <p:cNvPicPr preferRelativeResize="0"/>
          <p:nvPr/>
        </p:nvPicPr>
        <p:blipFill rotWithShape="1">
          <a:blip r:embed="rId4">
            <a:alphaModFix/>
          </a:blip>
          <a:srcRect b="21653" l="0" r="0" t="4014"/>
          <a:stretch/>
        </p:blipFill>
        <p:spPr>
          <a:xfrm>
            <a:off x="0" y="0"/>
            <a:ext cx="5186650"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42" name="Shape 242"/>
        <p:cNvGrpSpPr/>
        <p:nvPr/>
      </p:nvGrpSpPr>
      <p:grpSpPr>
        <a:xfrm>
          <a:off x="0" y="0"/>
          <a:ext cx="0" cy="0"/>
          <a:chOff x="0" y="0"/>
          <a:chExt cx="0" cy="0"/>
        </a:xfrm>
      </p:grpSpPr>
      <p:sp>
        <p:nvSpPr>
          <p:cNvPr id="243" name="Google Shape;243;p37"/>
          <p:cNvSpPr/>
          <p:nvPr/>
        </p:nvSpPr>
        <p:spPr>
          <a:xfrm>
            <a:off x="5856843"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37"/>
          <p:cNvSpPr txBox="1"/>
          <p:nvPr/>
        </p:nvSpPr>
        <p:spPr>
          <a:xfrm>
            <a:off x="5718450" y="238000"/>
            <a:ext cx="3218700" cy="35379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גם אנחנו לא תמיד מסכימים. לפעמים אנחנו אפילו כועסים.</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אבל למילים שלנו יש כוח. הן יכולות לפתוח שיחה, או להפוך את מי שחושב אחרת לאויב.</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אפשר לעמוד על דעתנו בלי לפגוע באדם שחושב אחרת.</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Clr>
                <a:schemeClr val="dk1"/>
              </a:buClr>
              <a:buSzPts val="1100"/>
              <a:buFont typeface="Arial"/>
              <a:buNone/>
            </a:pPr>
            <a:r>
              <a:t/>
            </a:r>
            <a:endParaRPr sz="1800">
              <a:solidFill>
                <a:schemeClr val="lt1"/>
              </a:solidFill>
              <a:latin typeface="Rubik"/>
              <a:ea typeface="Rubik"/>
              <a:cs typeface="Rubik"/>
              <a:sym typeface="Rubik"/>
            </a:endParaRPr>
          </a:p>
          <a:p>
            <a:pPr indent="0" lvl="0" marL="0" rtl="1" algn="r">
              <a:lnSpc>
                <a:spcPct val="121000"/>
              </a:lnSpc>
              <a:spcBef>
                <a:spcPts val="1200"/>
              </a:spcBef>
              <a:spcAft>
                <a:spcPts val="0"/>
              </a:spcAft>
              <a:buNone/>
            </a:pPr>
            <a:r>
              <a:t/>
            </a:r>
            <a:endParaRPr sz="1800">
              <a:solidFill>
                <a:schemeClr val="lt1"/>
              </a:solidFill>
              <a:latin typeface="Rubik"/>
              <a:ea typeface="Rubik"/>
              <a:cs typeface="Rubik"/>
              <a:sym typeface="Rubik"/>
            </a:endParaRPr>
          </a:p>
        </p:txBody>
      </p:sp>
      <p:pic>
        <p:nvPicPr>
          <p:cNvPr id="245" name="Google Shape;245;p37"/>
          <p:cNvPicPr preferRelativeResize="0"/>
          <p:nvPr/>
        </p:nvPicPr>
        <p:blipFill>
          <a:blip r:embed="rId3">
            <a:alphaModFix/>
          </a:blip>
          <a:stretch>
            <a:fillRect/>
          </a:stretch>
        </p:blipFill>
        <p:spPr>
          <a:xfrm>
            <a:off x="7932800" y="4642125"/>
            <a:ext cx="1167300" cy="407700"/>
          </a:xfrm>
          <a:prstGeom prst="rect">
            <a:avLst/>
          </a:prstGeom>
          <a:noFill/>
          <a:ln>
            <a:noFill/>
          </a:ln>
        </p:spPr>
      </p:pic>
      <p:pic>
        <p:nvPicPr>
          <p:cNvPr id="246" name="Google Shape;246;p37"/>
          <p:cNvPicPr preferRelativeResize="0"/>
          <p:nvPr/>
        </p:nvPicPr>
        <p:blipFill rotWithShape="1">
          <a:blip r:embed="rId4">
            <a:alphaModFix/>
          </a:blip>
          <a:srcRect b="0" l="12080" r="0" t="0"/>
          <a:stretch/>
        </p:blipFill>
        <p:spPr>
          <a:xfrm>
            <a:off x="1" y="358650"/>
            <a:ext cx="5838525" cy="442621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72D"/>
        </a:solidFill>
      </p:bgPr>
    </p:bg>
    <p:spTree>
      <p:nvGrpSpPr>
        <p:cNvPr id="250" name="Shape 250"/>
        <p:cNvGrpSpPr/>
        <p:nvPr/>
      </p:nvGrpSpPr>
      <p:grpSpPr>
        <a:xfrm>
          <a:off x="0" y="0"/>
          <a:ext cx="0" cy="0"/>
          <a:chOff x="0" y="0"/>
          <a:chExt cx="0" cy="0"/>
        </a:xfrm>
      </p:grpSpPr>
      <p:sp>
        <p:nvSpPr>
          <p:cNvPr id="251" name="Google Shape;251;p38"/>
          <p:cNvSpPr/>
          <p:nvPr/>
        </p:nvSpPr>
        <p:spPr>
          <a:xfrm>
            <a:off x="4558050" y="3885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38"/>
          <p:cNvSpPr txBox="1"/>
          <p:nvPr/>
        </p:nvSpPr>
        <p:spPr>
          <a:xfrm>
            <a:off x="5042500" y="238000"/>
            <a:ext cx="3894600" cy="35427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זוכרים את לי והיבא, שתי הילדות שפגשנו בתחילת הסיפור?</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הסבים שלהן נהרגו באותה מלחמה, משני צדי הגבול. עשרים ושבע שנים אחר כך עמדו הנכדות זו לצד זו, אוחזות ידיים בטקס השלום.</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rPr lang="en-GB" sz="1800">
                <a:solidFill>
                  <a:schemeClr val="lt1"/>
                </a:solidFill>
                <a:latin typeface="Rubik"/>
                <a:ea typeface="Rubik"/>
                <a:cs typeface="Rubik"/>
                <a:sym typeface="Rubik"/>
              </a:rPr>
              <a:t>העבר לא השתנה, והכאב לא נעלם. אבל התמונה שלהן מזכירה לנו שמה שהיה לא חייב לקבוע את מה שיהיה.</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t/>
            </a:r>
            <a:endParaRPr sz="1800">
              <a:solidFill>
                <a:schemeClr val="lt1"/>
              </a:solidFill>
              <a:latin typeface="Rubik"/>
              <a:ea typeface="Rubik"/>
              <a:cs typeface="Rubik"/>
              <a:sym typeface="Rubik"/>
            </a:endParaRPr>
          </a:p>
          <a:p>
            <a:pPr indent="0" lvl="0" marL="0" rtl="1" algn="r">
              <a:lnSpc>
                <a:spcPct val="115000"/>
              </a:lnSpc>
              <a:spcBef>
                <a:spcPts val="1200"/>
              </a:spcBef>
              <a:spcAft>
                <a:spcPts val="0"/>
              </a:spcAft>
              <a:buNone/>
            </a:pPr>
            <a:r>
              <a:t/>
            </a:r>
            <a:endParaRPr b="1" sz="1800">
              <a:solidFill>
                <a:schemeClr val="lt1"/>
              </a:solidFill>
              <a:latin typeface="Rubik"/>
              <a:ea typeface="Rubik"/>
              <a:cs typeface="Rubik"/>
              <a:sym typeface="Rubik"/>
            </a:endParaRPr>
          </a:p>
          <a:p>
            <a:pPr indent="0" lvl="0" marL="0" rtl="1" algn="r">
              <a:lnSpc>
                <a:spcPct val="115000"/>
              </a:lnSpc>
              <a:spcBef>
                <a:spcPts val="1200"/>
              </a:spcBef>
              <a:spcAft>
                <a:spcPts val="0"/>
              </a:spcAft>
              <a:buClr>
                <a:schemeClr val="dk1"/>
              </a:buClr>
              <a:buSzPts val="1100"/>
              <a:buFont typeface="Arial"/>
              <a:buNone/>
            </a:pPr>
            <a:r>
              <a:t/>
            </a:r>
            <a:endParaRPr sz="1800">
              <a:solidFill>
                <a:schemeClr val="lt1"/>
              </a:solidFill>
              <a:latin typeface="Rubik"/>
              <a:ea typeface="Rubik"/>
              <a:cs typeface="Rubik"/>
              <a:sym typeface="Rubik"/>
            </a:endParaRPr>
          </a:p>
          <a:p>
            <a:pPr indent="0" lvl="0" marL="0" rtl="1" algn="r">
              <a:lnSpc>
                <a:spcPct val="121000"/>
              </a:lnSpc>
              <a:spcBef>
                <a:spcPts val="1200"/>
              </a:spcBef>
              <a:spcAft>
                <a:spcPts val="0"/>
              </a:spcAft>
              <a:buNone/>
            </a:pPr>
            <a:r>
              <a:t/>
            </a:r>
            <a:endParaRPr sz="1800">
              <a:solidFill>
                <a:schemeClr val="lt1"/>
              </a:solidFill>
              <a:latin typeface="Rubik"/>
              <a:ea typeface="Rubik"/>
              <a:cs typeface="Rubik"/>
              <a:sym typeface="Rubik"/>
            </a:endParaRPr>
          </a:p>
        </p:txBody>
      </p:sp>
      <p:pic>
        <p:nvPicPr>
          <p:cNvPr id="253" name="Google Shape;253;p38"/>
          <p:cNvPicPr preferRelativeResize="0"/>
          <p:nvPr/>
        </p:nvPicPr>
        <p:blipFill>
          <a:blip r:embed="rId3">
            <a:alphaModFix/>
          </a:blip>
          <a:stretch>
            <a:fillRect/>
          </a:stretch>
        </p:blipFill>
        <p:spPr>
          <a:xfrm>
            <a:off x="372950" y="4517800"/>
            <a:ext cx="1167300" cy="407700"/>
          </a:xfrm>
          <a:prstGeom prst="rect">
            <a:avLst/>
          </a:prstGeom>
          <a:noFill/>
          <a:ln>
            <a:noFill/>
          </a:ln>
        </p:spPr>
      </p:pic>
      <p:pic>
        <p:nvPicPr>
          <p:cNvPr id="254" name="Google Shape;254;p38"/>
          <p:cNvPicPr preferRelativeResize="0"/>
          <p:nvPr/>
        </p:nvPicPr>
        <p:blipFill rotWithShape="1">
          <a:blip r:embed="rId4">
            <a:alphaModFix/>
          </a:blip>
          <a:srcRect b="5158" l="18568" r="18893" t="7575"/>
          <a:stretch/>
        </p:blipFill>
        <p:spPr>
          <a:xfrm>
            <a:off x="0" y="0"/>
            <a:ext cx="4747250" cy="5143499"/>
          </a:xfrm>
          <a:prstGeom prst="rect">
            <a:avLst/>
          </a:prstGeom>
          <a:noFill/>
          <a:ln>
            <a:noFill/>
          </a:ln>
        </p:spPr>
      </p:pic>
      <p:sp>
        <p:nvSpPr>
          <p:cNvPr id="255" name="Google Shape;255;p38"/>
          <p:cNvSpPr/>
          <p:nvPr/>
        </p:nvSpPr>
        <p:spPr>
          <a:xfrm>
            <a:off x="4753655" y="0"/>
            <a:ext cx="27900" cy="5143500"/>
          </a:xfrm>
          <a:prstGeom prst="rect">
            <a:avLst/>
          </a:prstGeom>
          <a:solidFill>
            <a:srgbClr val="D5AE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6" name="Google Shape;256;p38"/>
          <p:cNvPicPr preferRelativeResize="0"/>
          <p:nvPr/>
        </p:nvPicPr>
        <p:blipFill>
          <a:blip r:embed="rId3">
            <a:alphaModFix/>
          </a:blip>
          <a:stretch>
            <a:fillRect/>
          </a:stretch>
        </p:blipFill>
        <p:spPr>
          <a:xfrm>
            <a:off x="7932800" y="4642125"/>
            <a:ext cx="1167300" cy="40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